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Hook: UMKM Indonesia berukuran raksasa (64 juta) tapi underfunded — parafrasekan paradox ini di detik pertama.
- Tegaskan keunikan Sui: SuiStream adalah composable money stream primitive — bukan sekedar payment channel.
- Combo produk: marketplace (aplikasi) + SuiStream (primitive) — dua lapisan yang saling memperkuat.
- Sampaikan tagline "Profit mengalir per detik" sebagai janji inti produk.
- Sebut stats kunci: 6 UMKM terverifikasi, 47-312 investor/UMKM, 18-23% estimasi APY.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Buka dengan paradox: 64 juta UMKM = 60% PDB tapi akses kredit di bawah 12%.
- Jelaskan funding gap Rp 1.2Q tahunan — pasar terabaikan, bukan pasar kecil.
- Tegaskan demand sisi investor: Gen Z &amp; milenial crypto-native butuh akses investasi kecil.
- Bandingkan tiga jalur lama (bank, saham publik, crowdfunding) — semuanya punya barrier.
- Transisi ke solusi: butuh marketplace fraksional + distribusi profit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Jelaskan kenapa combo dua lapisan penting: primitive reusable untuk app lain, app showcase primitive.
- SuiStream bisa dipakai aplikasi lain (gaji, langganan, rental) — bukan hanya SahamKita.
- Distribusi profit dieksekusi atomik via PTB — tidak ada window partial failure.
- Walrus proof di langkah 3 jadi audit trail immutable — tidak bisa manipulasi laporan.
- Highlight step 5: withdraw sub-second adalah pengalaman investor yang membedakan dari EVM.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Pandu juri navigasi 5 tab berurutan: Marketplace → Portfolio → Dashboard UMKM → Pasar Sekunder → DAO Jury.
- Sebut wallet auto-connect via zkLogin — juri tidak perlu install apapun, tinggal klik Google.
- Highlight DeepBook sebagai bonus fitur pasar sekunder (likuiditas tanpa exit window).
- Highlight DAO Jury sebagai bonus governance — trust layer untuk laporan profit UMKM.
- Onboard UMKM (tile 6) tunjukkan Walrus upload flow — audit trail immutable untuk dokumen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Tekankan setiap fitur Sui menyelesaikan masalah konkret — bukan checklist fitur.
- PTB bulk distribution adalah killer feature: 152 investor atomik, tidak bisa di EVM tanpa loop tx.
- Walrus = trust layer: dokumen legal immutable, bukti untuk DAO jury.
- DeepBook memberi likuiditas sekunder tanpa exit window — beda dari crowdfund biasa.
- zkLogin + sponsored tx = zero-friction onboarding untuk investor pemula Indonesia.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Anchor pembuka: Indonesia rank 7 adopsi crypto global — tapi RWA masih &lt; 0.1%.
- Jelaskan funnel TAM ($16T) → SAM (Rp 1.2Q funding gap UMKM) → SOM (Rp 50M dari 500 UMKM year 1-2).
- Traction demo: 6 UMKM live, 8 Sui features aktif — bukan slide ware.
- Highlight comparison gas: 0.03 SUI vs $4-12 di Ethereum L1 — biaya distribusi profit jadi viable.
- ~800ms finality untuk 152 investor atomik — tunjukkan PTB itu bukan teori.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Tekankan MVP sudah substantial: 5 alur lengkap, bukan slide demo.
- Q4 2025 publish ke testnet — kontrak Move siap, dapp-kit integration sudah di code.
- Q1 2026 mainnet dengan DAO jury + DeepBook live — model distribusi profit terbukti.
- SuiStream SDK open-source di Q2 2026 akan tarik ecosystem builder lain.
- Cost ke mainnet &lt; $50K (gas + audit) — angka realistis untuk bootstrap.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Tutup dengan ask pertama: menang = grant untuk audit + mainnet deployment.
- Ask kedua: minta intro ke koperasi UMKM — pipeline 100+ pilot.
- Ask ketiga: feedback Sui core team untuk SuiStream SDK open-source.
- Tunjukkan live demo URL: preview-link.space-z.ai — ajak juri coba langsung.
- Penutup: terima kasih, tim based in Indonesia, building for 280M population.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1255" y="-428625"/>
            <a:ext cx="1962745" cy="2160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0"/>
              </a:lnSpc>
              <a:buNone/>
            </a:pPr>
            <a:r>
              <a:rPr lang="en-US" sz="15750" b="1" spc="-630" kern="0" dirty="0">
                <a:solidFill>
                  <a:srgbClr val="FAFAF7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5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42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4350" y="457200"/>
            <a:ext cx="1930152" cy="189309"/>
          </a:xfrm>
          <a:prstGeom prst="roundRect">
            <a:avLst>
              <a:gd name="adj" fmla="val 5026425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35806" y="507206"/>
            <a:ext cx="7019181" cy="11970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FAFA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SUI OVERFLOW HACKATHON 2025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00075" y="50542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FCD3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14" dirty="0"/>
          </a:p>
        </p:txBody>
      </p:sp>
      <p:sp>
        <p:nvSpPr>
          <p:cNvPr id="8" name="Text 4"/>
          <p:cNvSpPr/>
          <p:nvPr/>
        </p:nvSpPr>
        <p:spPr>
          <a:xfrm>
            <a:off x="7769275" y="492919"/>
            <a:ext cx="11281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FAFAF7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DECK · 01 / 08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045555"/>
            <a:ext cx="257175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353" y="107055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AFA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1" name="Text 6"/>
          <p:cNvSpPr/>
          <p:nvPr/>
        </p:nvSpPr>
        <p:spPr>
          <a:xfrm>
            <a:off x="857250" y="1077702"/>
            <a:ext cx="93392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AFA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SahamKita</a:t>
            </a:r>
            <a:endParaRPr lang="en-US" sz="1013" dirty="0"/>
          </a:p>
        </p:txBody>
      </p:sp>
      <p:sp>
        <p:nvSpPr>
          <p:cNvPr id="12" name="Text 7"/>
          <p:cNvSpPr/>
          <p:nvPr/>
        </p:nvSpPr>
        <p:spPr>
          <a:xfrm>
            <a:off x="1596070" y="1159855"/>
            <a:ext cx="28575" cy="28575"/>
          </a:xfrm>
          <a:prstGeom prst="ellipse">
            <a:avLst/>
          </a:prstGeom>
          <a:solidFill>
            <a:srgbClr val="FAFAF7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710370" y="1115206"/>
            <a:ext cx="50904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AFAF7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RWA · UMKM · SuiStream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514350" y="1502755"/>
            <a:ext cx="6915150" cy="110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16"/>
              </a:lnSpc>
              <a:buNone/>
            </a:pPr>
            <a:r>
              <a:rPr lang="en-US" sz="3825" b="1" spc="-96" kern="0" dirty="0">
                <a:solidFill>
                  <a:srgbClr val="FAFA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Investasi UMKM Indonesia.</a:t>
            </a:r>
            <a:endParaRPr lang="en-US" sz="3825" dirty="0"/>
          </a:p>
          <a:p>
            <a:pPr algn="l" indent="0" marL="0">
              <a:lnSpc>
                <a:spcPts val="4016"/>
              </a:lnSpc>
              <a:buNone/>
            </a:pPr>
            <a:r>
              <a:rPr lang="en-US" sz="3825" b="1" spc="-96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Profit mengalir per detik.</a:t>
            </a:r>
            <a:endParaRPr lang="en-US" sz="3825" dirty="0"/>
          </a:p>
        </p:txBody>
      </p:sp>
      <p:sp>
        <p:nvSpPr>
          <p:cNvPr id="15" name="Text 10"/>
          <p:cNvSpPr/>
          <p:nvPr/>
        </p:nvSpPr>
        <p:spPr>
          <a:xfrm>
            <a:off x="514350" y="2722773"/>
            <a:ext cx="5143500" cy="76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FAFAF7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Marketplace kepemilikan fraksional UMKM dengan distribusi profit via SuiStream primitive di jaringan Sui. Zero platform fee, zero manual transfer, atomic.</a:t>
            </a:r>
            <a:endParaRPr lang="en-US" sz="1238" dirty="0"/>
          </a:p>
        </p:txBody>
      </p:sp>
      <p:sp>
        <p:nvSpPr>
          <p:cNvPr id="16" name="Text 11"/>
          <p:cNvSpPr/>
          <p:nvPr/>
        </p:nvSpPr>
        <p:spPr>
          <a:xfrm>
            <a:off x="514350" y="4275534"/>
            <a:ext cx="342900" cy="7144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43607" y="4396978"/>
            <a:ext cx="4019645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AFAF7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UMKM terverifikasi investor/UMKM estimasi APY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14350" y="4382691"/>
            <a:ext cx="1204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CD3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1754907" y="4382691"/>
            <a:ext cx="935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AFAF7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884164" y="4382691"/>
            <a:ext cx="12049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14B8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47–312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124833" y="4382691"/>
            <a:ext cx="935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AFAF7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3254090" y="4382691"/>
            <a:ext cx="11114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18–23%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514350" y="4579144"/>
            <a:ext cx="41592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FAFAF7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SUI · MOVE-NATIVE · ZKLOGIN READY</a:t>
            </a:r>
            <a:endParaRPr lang="en-US" sz="800" dirty="0"/>
          </a:p>
        </p:txBody>
      </p:sp>
      <p:pic>
        <p:nvPicPr>
          <p:cNvPr id="24" name="Image 3" descr="/tmp/h2p-svg-1781735961894-nb2cc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3829050"/>
            <a:ext cx="2286000" cy="8572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AFAF7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SahamKita · Sui Overflow 2025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AFAF7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01 / 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7897" y="3143250"/>
            <a:ext cx="1506103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dirty="0">
                <a:solidFill>
                  <a:srgbClr val="0D9488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250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536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MASALAH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08019" y="437555"/>
            <a:ext cx="42863" cy="42863"/>
          </a:xfrm>
          <a:prstGeom prst="ellipse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08031" y="405408"/>
            <a:ext cx="17050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· UMKM + INVESTOR GAP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9372"/>
            <a:ext cx="4771355" cy="760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475" b="1" spc="-49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UMKM Indonesia raksasa,</a:t>
            </a:r>
            <a:endParaRPr lang="en-US" sz="2475" dirty="0"/>
          </a:p>
          <a:p>
            <a:pPr algn="l" indent="0" marL="0">
              <a:lnSpc>
                <a:spcPts val="2772"/>
              </a:lnSpc>
              <a:buNone/>
            </a:pPr>
            <a:r>
              <a:rPr lang="en-US" sz="2475" b="1" spc="-49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tapi investor tak punya akses.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457200" y="1521842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671861"/>
            <a:ext cx="3429000" cy="83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64 juta UMKM menyumbang 60% PDB Indonesia, tapi 9 dari 10 tidak bisa akses pinjaman bank. Investor retail juga tidak punya jalur investasi kecil ke bisnis lokal — minimum Rp 100 juta di sekuritas, no fractional ownership, no real-time profit.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457200" y="2605906"/>
            <a:ext cx="4337596" cy="705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39"/>
              </a:lnSpc>
              <a:spcAft>
                <a:spcPts val="619"/>
              </a:spcAft>
              <a:buSzPct val="100000"/>
              <a:buChar char="•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Pinjaman bank butuh agunan &amp; 6-12 bulan proses — 87% UMKM ditolak</a:t>
            </a:r>
            <a:endParaRPr lang="en-US" sz="800" dirty="0"/>
          </a:p>
          <a:p>
            <a:pPr algn="l" marL="342900" indent="-342900">
              <a:lnSpc>
                <a:spcPts val="1139"/>
              </a:lnSpc>
              <a:spcAft>
                <a:spcPts val="619"/>
              </a:spcAft>
              <a:buSzPct val="100000"/>
              <a:buChar char="•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Saham publik butuh Rp 100jt min — barrier terlalu tinggi untuk Gen Z &amp; milenial</a:t>
            </a:r>
            <a:endParaRPr lang="en-US" sz="800" dirty="0"/>
          </a:p>
          <a:p>
            <a:pPr algn="l" marL="342900" indent="-342900">
              <a:lnSpc>
                <a:spcPts val="1139"/>
              </a:lnSpc>
              <a:spcAft>
                <a:spcPts val="619"/>
              </a:spcAft>
              <a:buSzPct val="100000"/>
              <a:buChar char="•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Crowdfunding konvensional pakai platform fee 10-20% &amp; manual transfer bulanan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46345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73737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614363" y="4625578"/>
            <a:ext cx="41804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Funding gap Indonesia tumbuh 8.4% YoY · sektor informal terabaikan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41268" y="692944"/>
            <a:ext cx="3541961" cy="899331"/>
          </a:xfrm>
          <a:prstGeom prst="roundRect">
            <a:avLst>
              <a:gd name="adj" fmla="val 16946"/>
            </a:avLst>
          </a:prstGeom>
          <a:solidFill>
            <a:srgbClr val="FFFFFF"/>
          </a:solidFill>
          <a:ln w="7144">
            <a:solidFill>
              <a:srgbClr val="0D9488"/>
            </a:solidFill>
            <a:prstDash val="solid"/>
          </a:ln>
          <a:effectLst>
            <a:outerShdw sx="100000" sy="100000" kx="0" ky="0" algn="bl" rotWithShape="0" blurRad="285750" dist="76200" dir="5400000">
              <a:srgbClr val="0D9488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87714" y="825103"/>
            <a:ext cx="3249067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64M</a:t>
            </a:r>
            <a:endParaRPr lang="en-US" sz="2588" dirty="0"/>
          </a:p>
        </p:txBody>
      </p:sp>
      <p:sp>
        <p:nvSpPr>
          <p:cNvPr id="14" name="Text 12"/>
          <p:cNvSpPr/>
          <p:nvPr/>
        </p:nvSpPr>
        <p:spPr>
          <a:xfrm>
            <a:off x="5287714" y="1210866"/>
            <a:ext cx="2991468" cy="114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UMKM aktif di Indonesia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87714" y="1352959"/>
            <a:ext cx="32140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sumber: Kemenkop UKM 2024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65319" y="1006822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97466" y="103896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5141268" y="1699431"/>
            <a:ext cx="3541961" cy="899331"/>
          </a:xfrm>
          <a:prstGeom prst="roundRect">
            <a:avLst>
              <a:gd name="adj" fmla="val 16946"/>
            </a:avLst>
          </a:prstGeom>
          <a:solidFill>
            <a:srgbClr val="FFFFFF"/>
          </a:solidFill>
          <a:ln w="7144">
            <a:solidFill>
              <a:srgbClr val="0D9488"/>
            </a:solidFill>
            <a:prstDash val="solid"/>
          </a:ln>
          <a:effectLst>
            <a:outerShdw sx="100000" sy="100000" kx="0" ky="0" algn="bl" rotWithShape="0" blurRad="285750" dist="76200" dir="5400000">
              <a:srgbClr val="0D9488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87714" y="1831591"/>
            <a:ext cx="3249067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60%</a:t>
            </a:r>
            <a:endParaRPr lang="en-US" sz="2588" dirty="0"/>
          </a:p>
        </p:txBody>
      </p:sp>
      <p:sp>
        <p:nvSpPr>
          <p:cNvPr id="20" name="Text 18"/>
          <p:cNvSpPr/>
          <p:nvPr/>
        </p:nvSpPr>
        <p:spPr>
          <a:xfrm>
            <a:off x="5287714" y="2217353"/>
            <a:ext cx="2991468" cy="114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kontribusi PDB Indonesia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87714" y="2359447"/>
            <a:ext cx="32140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tapi akses kredit &lt; 12%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65319" y="2013310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97466" y="204545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406" dirty="0"/>
          </a:p>
        </p:txBody>
      </p:sp>
      <p:sp>
        <p:nvSpPr>
          <p:cNvPr id="24" name="Text 22"/>
          <p:cNvSpPr/>
          <p:nvPr/>
        </p:nvSpPr>
        <p:spPr>
          <a:xfrm>
            <a:off x="5141268" y="2705919"/>
            <a:ext cx="3541961" cy="870756"/>
          </a:xfrm>
          <a:prstGeom prst="roundRect">
            <a:avLst>
              <a:gd name="adj" fmla="val 17502"/>
            </a:avLst>
          </a:prstGeom>
          <a:solidFill>
            <a:srgbClr val="FFFFFF"/>
          </a:solidFill>
          <a:ln w="7144">
            <a:solidFill>
              <a:srgbClr val="E11D48"/>
            </a:solidFill>
            <a:prstDash val="solid"/>
          </a:ln>
          <a:effectLst>
            <a:outerShdw sx="100000" sy="100000" kx="0" ky="0" algn="bl" rotWithShape="0" blurRad="285750" dist="76200" dir="5400000">
              <a:srgbClr val="E11D48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87714" y="2838078"/>
            <a:ext cx="3249067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Rp 1.2Q</a:t>
            </a:r>
            <a:endParaRPr lang="en-US" sz="2363" dirty="0"/>
          </a:p>
        </p:txBody>
      </p:sp>
      <p:sp>
        <p:nvSpPr>
          <p:cNvPr id="26" name="Text 24"/>
          <p:cNvSpPr/>
          <p:nvPr/>
        </p:nvSpPr>
        <p:spPr>
          <a:xfrm>
            <a:off x="5287714" y="3195265"/>
            <a:ext cx="2991468" cy="114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funding gap tahunan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87714" y="3337359"/>
            <a:ext cx="30769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sektor informal Indonesia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65319" y="3005510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97466" y="303765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406" dirty="0"/>
          </a:p>
        </p:txBody>
      </p:sp>
      <p:sp>
        <p:nvSpPr>
          <p:cNvPr id="30" name="Text 28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SahamKita · Sui Overflow 2025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02 / 08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3050"/>
            <a:ext cx="2538353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dirty="0">
                <a:solidFill>
                  <a:srgbClr val="F59E0B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1250" dirty="0"/>
          </a:p>
        </p:txBody>
      </p:sp>
      <p:sp>
        <p:nvSpPr>
          <p:cNvPr id="3" name="Text 1"/>
          <p:cNvSpPr/>
          <p:nvPr/>
        </p:nvSpPr>
        <p:spPr>
          <a:xfrm>
            <a:off x="457200" y="34290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SOLUSI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6497"/>
            <a:ext cx="82296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45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 lapisan, satu pengalaman: 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45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primitive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45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45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aplikasi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45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200" y="952240"/>
            <a:ext cx="51435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SahamKita adalah aplikasi yang dibangun di atas SuiStream — primitive money-stream yang composable. Profit bulanan UMKM dikonversi menjadi stream object yang mengalir ke wallet investor setiap detik.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57200" y="1455874"/>
            <a:ext cx="402907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459446"/>
            <a:ext cx="402907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2703" y="1455874"/>
            <a:ext cx="0" cy="197167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23977"/>
            <a:ext cx="402907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1488" y="1455874"/>
            <a:ext cx="0" cy="1971675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078" y="1594534"/>
            <a:ext cx="1155903" cy="212027"/>
          </a:xfrm>
          <a:prstGeom prst="roundRect">
            <a:avLst>
              <a:gd name="adj" fmla="val 448786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0106" y="1655899"/>
            <a:ext cx="8172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 · PRIMITIVE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8663" y="166125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54487" y="1646969"/>
            <a:ext cx="5674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NATIVE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2938" y="1866640"/>
            <a:ext cx="1376228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spc="-24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SuiStream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691060" y="2002371"/>
            <a:ext cx="26309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v0.1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2938" y="2209540"/>
            <a:ext cx="36790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Money stream sebagai object Move — composable, transferable, fractionalizable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0078" y="2437818"/>
            <a:ext cx="855754" cy="206026"/>
          </a:xfrm>
          <a:prstGeom prst="roundRect">
            <a:avLst>
              <a:gd name="adj" fmla="val 461858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50106" y="2491718"/>
            <a:ext cx="5171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 per detik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8663" y="25015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72974" y="2437818"/>
            <a:ext cx="865465" cy="206026"/>
          </a:xfrm>
          <a:prstGeom prst="roundRect">
            <a:avLst>
              <a:gd name="adj" fmla="val 461858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03003" y="2491718"/>
            <a:ext cx="52685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Cliff &amp; vesting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81559" y="25015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35582" y="2437818"/>
            <a:ext cx="802734" cy="206026"/>
          </a:xfrm>
          <a:prstGeom prst="roundRect">
            <a:avLst>
              <a:gd name="adj" fmla="val 461858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65611" y="2491718"/>
            <a:ext cx="46412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Transferable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44167" y="25015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35459" y="2437818"/>
            <a:ext cx="772038" cy="206026"/>
          </a:xfrm>
          <a:prstGeom prst="roundRect">
            <a:avLst>
              <a:gd name="adj" fmla="val 461858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65488" y="2491718"/>
            <a:ext cx="4334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Cancellable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44044" y="25015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2938" y="2732819"/>
            <a:ext cx="3679031" cy="266105"/>
          </a:xfrm>
          <a:prstGeom prst="roundRect">
            <a:avLst>
              <a:gd name="adj" fmla="val 28635"/>
            </a:avLst>
          </a:prstGeom>
          <a:solidFill>
            <a:srgbClr val="0A1F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28663" y="281943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4B8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32" name="Text 30"/>
          <p:cNvSpPr/>
          <p:nvPr/>
        </p:nvSpPr>
        <p:spPr>
          <a:xfrm>
            <a:off x="878681" y="2804257"/>
            <a:ext cx="307092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suistream::stream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978176" y="2812293"/>
            <a:ext cx="258068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AFAF7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·Move·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57725" y="1455874"/>
            <a:ext cx="402907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57725" y="1459446"/>
            <a:ext cx="402907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3228" y="1455874"/>
            <a:ext cx="0" cy="197167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57725" y="3423977"/>
            <a:ext cx="402907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72013" y="1455874"/>
            <a:ext cx="0" cy="1971675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0603" y="1594534"/>
            <a:ext cx="1125208" cy="212027"/>
          </a:xfrm>
          <a:prstGeom prst="roundRect">
            <a:avLst>
              <a:gd name="adj" fmla="val 44878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050631" y="1655899"/>
            <a:ext cx="7865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 · APLIKASI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29188" y="166125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03443" y="1646969"/>
            <a:ext cx="619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APP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43463" y="1866640"/>
            <a:ext cx="1439756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spc="-24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SahamKita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5936010" y="2002371"/>
            <a:ext cx="2586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43463" y="2209540"/>
            <a:ext cx="36790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Marketplace UMKM + distribusi profit via SuiStream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43463" y="2434568"/>
            <a:ext cx="3679031" cy="943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45"/>
              </a:lnSpc>
              <a:spcAft>
                <a:spcPts val="394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UMKM onboard (mint NFT + share tokens)</a:t>
            </a:r>
            <a:endParaRPr lang="en-US" sz="800" dirty="0"/>
          </a:p>
          <a:p>
            <a:pPr algn="l" marL="342900" indent="-342900">
              <a:lnSpc>
                <a:spcPts val="945"/>
              </a:lnSpc>
              <a:spcAft>
                <a:spcPts val="394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Investor beli share (PTB atomic)</a:t>
            </a:r>
            <a:endParaRPr lang="en-US" sz="800" dirty="0"/>
          </a:p>
          <a:p>
            <a:pPr algn="l" marL="342900" indent="-342900">
              <a:lnSpc>
                <a:spcPts val="945"/>
              </a:lnSpc>
              <a:spcAft>
                <a:spcPts val="394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Owner lapork profit (Walrus proof)</a:t>
            </a:r>
            <a:endParaRPr lang="en-US" sz="800" dirty="0"/>
          </a:p>
          <a:p>
            <a:pPr algn="l" marL="342900" indent="-342900">
              <a:lnSpc>
                <a:spcPts val="945"/>
              </a:lnSpc>
              <a:spcAft>
                <a:spcPts val="394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Distribusi otomatis (PTB bulk create_stream)</a:t>
            </a:r>
            <a:endParaRPr lang="en-US" sz="800" dirty="0"/>
          </a:p>
          <a:p>
            <a:pPr algn="l" marL="342900" indent="-342900">
              <a:lnSpc>
                <a:spcPts val="945"/>
              </a:lnSpc>
              <a:spcAft>
                <a:spcPts val="394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Investor withdraw (sub-second)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300497" y="360078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8" name="Text 46"/>
          <p:cNvSpPr/>
          <p:nvPr/>
        </p:nvSpPr>
        <p:spPr>
          <a:xfrm>
            <a:off x="1443372" y="3591855"/>
            <a:ext cx="10536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SuiStream primitive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442381" y="3650791"/>
            <a:ext cx="1714500" cy="0"/>
          </a:xfrm>
          <a:prstGeom prst="line">
            <a:avLst/>
          </a:prstGeom>
          <a:noFill/>
          <a:ln w="7144">
            <a:solidFill>
              <a:srgbClr val="0D9488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4085444" y="35757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1" name="Text 49"/>
          <p:cNvSpPr/>
          <p:nvPr/>
        </p:nvSpPr>
        <p:spPr>
          <a:xfrm>
            <a:off x="4234034" y="3544778"/>
            <a:ext cx="959897" cy="212027"/>
          </a:xfrm>
          <a:prstGeom prst="roundRect">
            <a:avLst>
              <a:gd name="adj" fmla="val 448786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256894" y="3556136"/>
            <a:ext cx="91417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composed via PTB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271083" y="3650791"/>
            <a:ext cx="1714500" cy="0"/>
          </a:xfrm>
          <a:prstGeom prst="line">
            <a:avLst/>
          </a:prstGeom>
          <a:noFill/>
          <a:ln w="7144">
            <a:solidFill>
              <a:srgbClr val="F59E0B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7085595" y="360078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55" name="Text 53"/>
          <p:cNvSpPr/>
          <p:nvPr/>
        </p:nvSpPr>
        <p:spPr>
          <a:xfrm>
            <a:off x="7228470" y="3591855"/>
            <a:ext cx="7208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SahamKita app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SahamKita · Sui Overflow 2025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03 / 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6976427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 LIVE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446484"/>
            <a:ext cx="4915681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4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Lima alur utama, satu pengalaman mulus.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7879221" y="478966"/>
            <a:ext cx="57150" cy="5715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50800" dir="16200000">
              <a:srgbClr val="0D9488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93521" y="448605"/>
            <a:ext cx="9259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TESTNET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0050" y="786482"/>
            <a:ext cx="55721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alur dibangun dengan Sui-native features: zkLogin untuk onboarding, PTB untuk atomicity, Walrus untuk audit trail. Tidak bisa direplikasi sebersih ini di EVM.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3622" y="1179388"/>
            <a:ext cx="2716969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206" y="1282973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7231" y="1299046"/>
            <a:ext cx="9980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Marketplace UMKM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68963" y="1298689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79936" y="1306190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06" y="1511573"/>
            <a:ext cx="2509800" cy="37861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4356" y="1554435"/>
            <a:ext cx="19941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☕ Kopi Senja · Bandung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72755" y="1559793"/>
            <a:ext cx="387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18.7% APY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64356" y="1700882"/>
            <a:ext cx="2395500" cy="28575"/>
          </a:xfrm>
          <a:prstGeom prst="roundRect">
            <a:avLst>
              <a:gd name="adj" fmla="val 66667"/>
            </a:avLst>
          </a:prstGeom>
          <a:solidFill>
            <a:srgbClr val="00000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64356" y="1700882"/>
            <a:ext cx="1533116" cy="28575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64356" y="1750888"/>
            <a:ext cx="23955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64% funded · 152 investor</a:t>
            </a:r>
            <a:endParaRPr lang="en-US" sz="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" y="1933054"/>
            <a:ext cx="2509800" cy="37861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4356" y="1975917"/>
            <a:ext cx="19941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👕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Batik Sari · Yogya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572755" y="1981274"/>
            <a:ext cx="387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21.4% APY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64356" y="2122363"/>
            <a:ext cx="2395500" cy="28575"/>
          </a:xfrm>
          <a:prstGeom prst="roundRect">
            <a:avLst>
              <a:gd name="adj" fmla="val 66667"/>
            </a:avLst>
          </a:prstGeom>
          <a:solidFill>
            <a:srgbClr val="00000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64356" y="2122363"/>
            <a:ext cx="91027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64356" y="2172370"/>
            <a:ext cx="23955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38% funded · 47 investor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572531" y="2631021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213460" y="1179388"/>
            <a:ext cx="2716969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317044" y="1282973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💧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517069" y="1299046"/>
            <a:ext cx="901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Portfolio Investor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678801" y="1298689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689774" y="1306190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3317044" y="1693738"/>
            <a:ext cx="250980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dash"/>
          </a:ln>
        </p:spPr>
      </p:sp>
      <p:pic>
        <p:nvPicPr>
          <p:cNvPr id="31" name="Image 2" descr="/tmp/h2p-svg-1781735961863-rilm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044" y="1565151"/>
            <a:ext cx="228600" cy="7143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588507" y="1547292"/>
            <a:ext cx="55454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0.150 IDR/s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783982" y="1579438"/>
            <a:ext cx="42863" cy="42863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50800" dir="16200000">
              <a:srgbClr val="0D9488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29"/>
          <p:cNvSpPr/>
          <p:nvPr/>
        </p:nvSpPr>
        <p:spPr>
          <a:xfrm>
            <a:off x="3317044" y="1879476"/>
            <a:ext cx="250980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dash"/>
          </a:ln>
        </p:spPr>
      </p:sp>
      <p:pic>
        <p:nvPicPr>
          <p:cNvPr id="35" name="Image 3" descr="/tmp/h2p-svg-1781735961865-pvi6m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044" y="1750888"/>
            <a:ext cx="228600" cy="7143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588507" y="1733029"/>
            <a:ext cx="55454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0.087 IDR/s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5783982" y="1765176"/>
            <a:ext cx="42863" cy="42863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50800" dir="16200000">
              <a:srgbClr val="0D9488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4" descr="/tmp/h2p-svg-1781735961865-4k9ks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7044" y="1936626"/>
            <a:ext cx="228600" cy="7143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588507" y="1918767"/>
            <a:ext cx="5545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0.312 IDR/s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5783982" y="1950913"/>
            <a:ext cx="42863" cy="42863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50800" dir="16200000">
              <a:srgbClr val="0D9488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3317044" y="2104504"/>
            <a:ext cx="2509800" cy="203597"/>
          </a:xfrm>
          <a:prstGeom prst="roundRect">
            <a:avLst>
              <a:gd name="adj" fmla="val 2807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3374194" y="2152724"/>
            <a:ext cx="1860724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aktif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5249205" y="2147367"/>
            <a:ext cx="52048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0.549 IDR/s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5382369" y="2631021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6023297" y="1179388"/>
            <a:ext cx="2717081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6126882" y="1282973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6326907" y="1299046"/>
            <a:ext cx="9373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UMKM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8488750" y="1298689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8499723" y="1306190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6126882" y="1511573"/>
            <a:ext cx="2509912" cy="432197"/>
          </a:xfrm>
          <a:prstGeom prst="roundRect">
            <a:avLst>
              <a:gd name="adj" fmla="val 17631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6191176" y="1561579"/>
            <a:ext cx="18766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☕ Kopi Senja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8082149" y="1569616"/>
            <a:ext cx="4903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152 investor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6126882" y="1986632"/>
            <a:ext cx="2509912" cy="432197"/>
          </a:xfrm>
          <a:prstGeom prst="roundRect">
            <a:avLst>
              <a:gd name="adj" fmla="val 1763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6191176" y="2036638"/>
            <a:ext cx="19175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👕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Batik Sari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8123002" y="2044675"/>
            <a:ext cx="4494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 investor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8192319" y="2631021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403622" y="2891768"/>
            <a:ext cx="2716969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507206" y="2995352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707231" y="3011425"/>
            <a:ext cx="8228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Pasar Sekunder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2868963" y="3011068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2879936" y="3018569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07206" y="3223952"/>
            <a:ext cx="2509800" cy="353616"/>
          </a:xfrm>
          <a:prstGeom prst="roundRect">
            <a:avLst>
              <a:gd name="adj" fmla="val 21549"/>
            </a:avLst>
          </a:prstGeom>
          <a:solidFill>
            <a:srgbClr val="F5F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571500" y="3273958"/>
            <a:ext cx="197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KSN · Kopi Senja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2541072" y="3269886"/>
            <a:ext cx="427473" cy="126016"/>
          </a:xfrm>
          <a:prstGeom prst="roundRect">
            <a:avLst>
              <a:gd name="adj" fmla="val 755100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2556904" y="3276637"/>
            <a:ext cx="39580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" kern="0" dirty="0">
                <a:solidFill>
                  <a:srgbClr val="FCD3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DeepBook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571500" y="3420405"/>
            <a:ext cx="197971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 </a:t>
            </a:r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1,840</a:t>
            </a:r>
            <a:endParaRPr lang="en-US" sz="800" dirty="0"/>
          </a:p>
        </p:txBody>
      </p:sp>
      <p:sp>
        <p:nvSpPr>
          <p:cNvPr id="67" name="Text 60"/>
          <p:cNvSpPr/>
          <p:nvPr/>
        </p:nvSpPr>
        <p:spPr>
          <a:xfrm>
            <a:off x="2565499" y="3420405"/>
            <a:ext cx="3872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</a:t>
            </a:r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1,872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507206" y="3620430"/>
            <a:ext cx="2509800" cy="353616"/>
          </a:xfrm>
          <a:prstGeom prst="roundRect">
            <a:avLst>
              <a:gd name="adj" fmla="val 21549"/>
            </a:avLst>
          </a:prstGeom>
          <a:solidFill>
            <a:srgbClr val="F5F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2"/>
          <p:cNvSpPr/>
          <p:nvPr/>
        </p:nvSpPr>
        <p:spPr>
          <a:xfrm>
            <a:off x="571500" y="3670436"/>
            <a:ext cx="197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BTS · Batik Sari</a:t>
            </a:r>
            <a:endParaRPr lang="en-US" sz="800" dirty="0"/>
          </a:p>
        </p:txBody>
      </p:sp>
      <p:sp>
        <p:nvSpPr>
          <p:cNvPr id="70" name="Text 63"/>
          <p:cNvSpPr/>
          <p:nvPr/>
        </p:nvSpPr>
        <p:spPr>
          <a:xfrm>
            <a:off x="2541072" y="3666364"/>
            <a:ext cx="427473" cy="126016"/>
          </a:xfrm>
          <a:prstGeom prst="roundRect">
            <a:avLst>
              <a:gd name="adj" fmla="val 755100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4"/>
          <p:cNvSpPr/>
          <p:nvPr/>
        </p:nvSpPr>
        <p:spPr>
          <a:xfrm>
            <a:off x="2556904" y="3673115"/>
            <a:ext cx="39580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" kern="0" dirty="0">
                <a:solidFill>
                  <a:srgbClr val="FCD3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DeepBook</a:t>
            </a:r>
            <a:endParaRPr lang="en-US" sz="800" dirty="0"/>
          </a:p>
        </p:txBody>
      </p:sp>
      <p:sp>
        <p:nvSpPr>
          <p:cNvPr id="72" name="Text 65"/>
          <p:cNvSpPr/>
          <p:nvPr/>
        </p:nvSpPr>
        <p:spPr>
          <a:xfrm>
            <a:off x="571500" y="3816883"/>
            <a:ext cx="206577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 </a:t>
            </a:r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920</a:t>
            </a:r>
            <a:endParaRPr lang="en-US" sz="800" dirty="0"/>
          </a:p>
        </p:txBody>
      </p:sp>
      <p:sp>
        <p:nvSpPr>
          <p:cNvPr id="73" name="Text 66"/>
          <p:cNvSpPr/>
          <p:nvPr/>
        </p:nvSpPr>
        <p:spPr>
          <a:xfrm>
            <a:off x="2651559" y="3816883"/>
            <a:ext cx="30115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</a:t>
            </a:r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945</a:t>
            </a:r>
            <a:endParaRPr lang="en-US" sz="800" dirty="0"/>
          </a:p>
        </p:txBody>
      </p:sp>
      <p:sp>
        <p:nvSpPr>
          <p:cNvPr id="74" name="Text 67"/>
          <p:cNvSpPr/>
          <p:nvPr/>
        </p:nvSpPr>
        <p:spPr>
          <a:xfrm>
            <a:off x="2572531" y="4343400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75" name="Text 68"/>
          <p:cNvSpPr/>
          <p:nvPr/>
        </p:nvSpPr>
        <p:spPr>
          <a:xfrm>
            <a:off x="3213460" y="2891768"/>
            <a:ext cx="2716969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69"/>
          <p:cNvSpPr/>
          <p:nvPr/>
        </p:nvSpPr>
        <p:spPr>
          <a:xfrm>
            <a:off x="3317044" y="2995352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⚖️</a:t>
            </a:r>
            <a:endParaRPr lang="en-US" sz="900" dirty="0"/>
          </a:p>
        </p:txBody>
      </p:sp>
      <p:sp>
        <p:nvSpPr>
          <p:cNvPr id="77" name="Text 70"/>
          <p:cNvSpPr/>
          <p:nvPr/>
        </p:nvSpPr>
        <p:spPr>
          <a:xfrm>
            <a:off x="3517069" y="3011425"/>
            <a:ext cx="5483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DAO Jury</a:t>
            </a:r>
            <a:endParaRPr lang="en-US" sz="800" dirty="0"/>
          </a:p>
        </p:txBody>
      </p:sp>
      <p:sp>
        <p:nvSpPr>
          <p:cNvPr id="78" name="Text 71"/>
          <p:cNvSpPr/>
          <p:nvPr/>
        </p:nvSpPr>
        <p:spPr>
          <a:xfrm>
            <a:off x="5678801" y="3011068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2"/>
          <p:cNvSpPr/>
          <p:nvPr/>
        </p:nvSpPr>
        <p:spPr>
          <a:xfrm>
            <a:off x="5689774" y="3018569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80" name="Text 73"/>
          <p:cNvSpPr/>
          <p:nvPr/>
        </p:nvSpPr>
        <p:spPr>
          <a:xfrm>
            <a:off x="3317044" y="3223952"/>
            <a:ext cx="2509800" cy="392906"/>
          </a:xfrm>
          <a:prstGeom prst="roundRect">
            <a:avLst>
              <a:gd name="adj" fmla="val 19394"/>
            </a:avLst>
          </a:prstGeom>
          <a:solidFill>
            <a:srgbClr val="FFF1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4"/>
          <p:cNvSpPr/>
          <p:nvPr/>
        </p:nvSpPr>
        <p:spPr>
          <a:xfrm>
            <a:off x="3381338" y="3280209"/>
            <a:ext cx="2095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Profit Q3 · Kopi Senja</a:t>
            </a:r>
            <a:endParaRPr lang="en-US" sz="800" dirty="0"/>
          </a:p>
        </p:txBody>
      </p:sp>
      <p:sp>
        <p:nvSpPr>
          <p:cNvPr id="82" name="Text 75"/>
          <p:cNvSpPr/>
          <p:nvPr/>
        </p:nvSpPr>
        <p:spPr>
          <a:xfrm>
            <a:off x="5491088" y="3266815"/>
            <a:ext cx="114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endParaRPr lang="en-US" sz="800" dirty="0"/>
          </a:p>
        </p:txBody>
      </p:sp>
      <p:sp>
        <p:nvSpPr>
          <p:cNvPr id="83" name="Text 76"/>
          <p:cNvSpPr/>
          <p:nvPr/>
        </p:nvSpPr>
        <p:spPr>
          <a:xfrm>
            <a:off x="5648251" y="3266815"/>
            <a:ext cx="114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👎</a:t>
            </a:r>
            <a:endParaRPr lang="en-US" sz="800" dirty="0"/>
          </a:p>
        </p:txBody>
      </p:sp>
      <p:sp>
        <p:nvSpPr>
          <p:cNvPr id="84" name="Text 77"/>
          <p:cNvSpPr/>
          <p:nvPr/>
        </p:nvSpPr>
        <p:spPr>
          <a:xfrm>
            <a:off x="3381338" y="3434693"/>
            <a:ext cx="2381213" cy="21431"/>
          </a:xfrm>
          <a:prstGeom prst="roundRect">
            <a:avLst>
              <a:gd name="adj" fmla="val 88890"/>
            </a:avLst>
          </a:prstGeom>
          <a:solidFill>
            <a:srgbClr val="00000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78"/>
          <p:cNvSpPr/>
          <p:nvPr/>
        </p:nvSpPr>
        <p:spPr>
          <a:xfrm>
            <a:off x="3381338" y="3434693"/>
            <a:ext cx="1428638" cy="21431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9"/>
          <p:cNvSpPr/>
          <p:nvPr/>
        </p:nvSpPr>
        <p:spPr>
          <a:xfrm>
            <a:off x="3381338" y="3477555"/>
            <a:ext cx="238121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3/5 approved</a:t>
            </a:r>
            <a:endParaRPr lang="en-US" sz="800" dirty="0"/>
          </a:p>
        </p:txBody>
      </p:sp>
      <p:sp>
        <p:nvSpPr>
          <p:cNvPr id="87" name="Text 80"/>
          <p:cNvSpPr/>
          <p:nvPr/>
        </p:nvSpPr>
        <p:spPr>
          <a:xfrm>
            <a:off x="3317044" y="3659721"/>
            <a:ext cx="2509800" cy="392906"/>
          </a:xfrm>
          <a:prstGeom prst="roundRect">
            <a:avLst>
              <a:gd name="adj" fmla="val 1939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1"/>
          <p:cNvSpPr/>
          <p:nvPr/>
        </p:nvSpPr>
        <p:spPr>
          <a:xfrm>
            <a:off x="3381338" y="3715978"/>
            <a:ext cx="2095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Profit Q3 · Batik Sari</a:t>
            </a:r>
            <a:endParaRPr lang="en-US" sz="800" dirty="0"/>
          </a:p>
        </p:txBody>
      </p:sp>
      <p:sp>
        <p:nvSpPr>
          <p:cNvPr id="89" name="Text 82"/>
          <p:cNvSpPr/>
          <p:nvPr/>
        </p:nvSpPr>
        <p:spPr>
          <a:xfrm>
            <a:off x="5491088" y="3702583"/>
            <a:ext cx="114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endParaRPr lang="en-US" sz="800" dirty="0"/>
          </a:p>
        </p:txBody>
      </p:sp>
      <p:sp>
        <p:nvSpPr>
          <p:cNvPr id="90" name="Text 83"/>
          <p:cNvSpPr/>
          <p:nvPr/>
        </p:nvSpPr>
        <p:spPr>
          <a:xfrm>
            <a:off x="5648251" y="3702583"/>
            <a:ext cx="114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👎</a:t>
            </a:r>
            <a:endParaRPr lang="en-US" sz="800" dirty="0"/>
          </a:p>
        </p:txBody>
      </p:sp>
      <p:sp>
        <p:nvSpPr>
          <p:cNvPr id="91" name="Text 84"/>
          <p:cNvSpPr/>
          <p:nvPr/>
        </p:nvSpPr>
        <p:spPr>
          <a:xfrm>
            <a:off x="3381338" y="3870461"/>
            <a:ext cx="2381213" cy="21431"/>
          </a:xfrm>
          <a:prstGeom prst="roundRect">
            <a:avLst>
              <a:gd name="adj" fmla="val 88890"/>
            </a:avLst>
          </a:prstGeom>
          <a:solidFill>
            <a:srgbClr val="00000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5"/>
          <p:cNvSpPr/>
          <p:nvPr/>
        </p:nvSpPr>
        <p:spPr>
          <a:xfrm>
            <a:off x="3381338" y="3870461"/>
            <a:ext cx="952463" cy="2143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86"/>
          <p:cNvSpPr/>
          <p:nvPr/>
        </p:nvSpPr>
        <p:spPr>
          <a:xfrm>
            <a:off x="3381338" y="3913324"/>
            <a:ext cx="238121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2/5 approved</a:t>
            </a:r>
            <a:endParaRPr lang="en-US" sz="800" dirty="0"/>
          </a:p>
        </p:txBody>
      </p:sp>
      <p:sp>
        <p:nvSpPr>
          <p:cNvPr id="94" name="Text 87"/>
          <p:cNvSpPr/>
          <p:nvPr/>
        </p:nvSpPr>
        <p:spPr>
          <a:xfrm>
            <a:off x="5382369" y="4343400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95" name="Text 88"/>
          <p:cNvSpPr/>
          <p:nvPr/>
        </p:nvSpPr>
        <p:spPr>
          <a:xfrm>
            <a:off x="6023297" y="2891768"/>
            <a:ext cx="2717081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89"/>
          <p:cNvSpPr/>
          <p:nvPr/>
        </p:nvSpPr>
        <p:spPr>
          <a:xfrm>
            <a:off x="6126882" y="2995352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✨</a:t>
            </a:r>
            <a:endParaRPr lang="en-US" sz="900" dirty="0"/>
          </a:p>
        </p:txBody>
      </p:sp>
      <p:sp>
        <p:nvSpPr>
          <p:cNvPr id="97" name="Text 90"/>
          <p:cNvSpPr/>
          <p:nvPr/>
        </p:nvSpPr>
        <p:spPr>
          <a:xfrm>
            <a:off x="6326907" y="3011425"/>
            <a:ext cx="822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Onboard UMKM</a:t>
            </a:r>
            <a:endParaRPr lang="en-US" sz="800" dirty="0"/>
          </a:p>
        </p:txBody>
      </p:sp>
      <p:sp>
        <p:nvSpPr>
          <p:cNvPr id="98" name="Text 91"/>
          <p:cNvSpPr/>
          <p:nvPr/>
        </p:nvSpPr>
        <p:spPr>
          <a:xfrm>
            <a:off x="8488750" y="3011068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2"/>
          <p:cNvSpPr/>
          <p:nvPr/>
        </p:nvSpPr>
        <p:spPr>
          <a:xfrm>
            <a:off x="8499723" y="3018569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100" name="Text 93"/>
          <p:cNvSpPr/>
          <p:nvPr/>
        </p:nvSpPr>
        <p:spPr>
          <a:xfrm>
            <a:off x="6159922" y="3223952"/>
            <a:ext cx="128588" cy="128588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4"/>
          <p:cNvSpPr/>
          <p:nvPr/>
        </p:nvSpPr>
        <p:spPr>
          <a:xfrm>
            <a:off x="6170637" y="3234668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102" name="Text 95"/>
          <p:cNvSpPr/>
          <p:nvPr/>
        </p:nvSpPr>
        <p:spPr>
          <a:xfrm>
            <a:off x="6155457" y="3373971"/>
            <a:ext cx="217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Akta</a:t>
            </a:r>
            <a:endParaRPr lang="en-US" sz="800" dirty="0"/>
          </a:p>
        </p:txBody>
      </p:sp>
      <p:sp>
        <p:nvSpPr>
          <p:cNvPr id="103" name="Text 96"/>
          <p:cNvSpPr/>
          <p:nvPr/>
        </p:nvSpPr>
        <p:spPr>
          <a:xfrm>
            <a:off x="6278798" y="3334680"/>
            <a:ext cx="651086" cy="1428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97"/>
          <p:cNvSpPr/>
          <p:nvPr/>
        </p:nvSpPr>
        <p:spPr>
          <a:xfrm>
            <a:off x="6920061" y="3223952"/>
            <a:ext cx="128588" cy="128588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98"/>
          <p:cNvSpPr/>
          <p:nvPr/>
        </p:nvSpPr>
        <p:spPr>
          <a:xfrm>
            <a:off x="6930777" y="3234668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106" name="Text 99"/>
          <p:cNvSpPr/>
          <p:nvPr/>
        </p:nvSpPr>
        <p:spPr>
          <a:xfrm>
            <a:off x="6915596" y="3373971"/>
            <a:ext cx="217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NPWP</a:t>
            </a:r>
            <a:endParaRPr lang="en-US" sz="800" dirty="0"/>
          </a:p>
        </p:txBody>
      </p:sp>
      <p:sp>
        <p:nvSpPr>
          <p:cNvPr id="107" name="Text 100"/>
          <p:cNvSpPr/>
          <p:nvPr/>
        </p:nvSpPr>
        <p:spPr>
          <a:xfrm>
            <a:off x="7038938" y="3334680"/>
            <a:ext cx="651197" cy="1428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1"/>
          <p:cNvSpPr/>
          <p:nvPr/>
        </p:nvSpPr>
        <p:spPr>
          <a:xfrm>
            <a:off x="7697614" y="3223952"/>
            <a:ext cx="128588" cy="128588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2"/>
          <p:cNvSpPr/>
          <p:nvPr/>
        </p:nvSpPr>
        <p:spPr>
          <a:xfrm>
            <a:off x="7697614" y="3223952"/>
            <a:ext cx="12858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10" name="Text 103"/>
          <p:cNvSpPr/>
          <p:nvPr/>
        </p:nvSpPr>
        <p:spPr>
          <a:xfrm>
            <a:off x="7675848" y="3373971"/>
            <a:ext cx="271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Lapor</a:t>
            </a:r>
            <a:endParaRPr lang="en-US" sz="800" dirty="0"/>
          </a:p>
        </p:txBody>
      </p:sp>
      <p:sp>
        <p:nvSpPr>
          <p:cNvPr id="111" name="Text 104"/>
          <p:cNvSpPr/>
          <p:nvPr/>
        </p:nvSpPr>
        <p:spPr>
          <a:xfrm>
            <a:off x="7833680" y="3334680"/>
            <a:ext cx="651197" cy="14288"/>
          </a:xfrm>
          <a:prstGeom prst="rect">
            <a:avLst/>
          </a:prstGeom>
          <a:solidFill>
            <a:srgbClr val="E5E0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05"/>
          <p:cNvSpPr/>
          <p:nvPr/>
        </p:nvSpPr>
        <p:spPr>
          <a:xfrm>
            <a:off x="8478627" y="3227524"/>
            <a:ext cx="121444" cy="121444"/>
          </a:xfrm>
          <a:prstGeom prst="ellipse">
            <a:avLst/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06"/>
          <p:cNvSpPr/>
          <p:nvPr/>
        </p:nvSpPr>
        <p:spPr>
          <a:xfrm>
            <a:off x="8475055" y="3223952"/>
            <a:ext cx="12858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14" name="Text 107"/>
          <p:cNvSpPr/>
          <p:nvPr/>
        </p:nvSpPr>
        <p:spPr>
          <a:xfrm>
            <a:off x="8470590" y="3373971"/>
            <a:ext cx="166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</a:t>
            </a:r>
            <a:endParaRPr lang="en-US" sz="800" dirty="0"/>
          </a:p>
        </p:txBody>
      </p:sp>
      <p:sp>
        <p:nvSpPr>
          <p:cNvPr id="115" name="Text 108"/>
          <p:cNvSpPr/>
          <p:nvPr/>
        </p:nvSpPr>
        <p:spPr>
          <a:xfrm>
            <a:off x="6126882" y="3516846"/>
            <a:ext cx="2509912" cy="201811"/>
          </a:xfrm>
          <a:prstGeom prst="roundRect">
            <a:avLst>
              <a:gd name="adj" fmla="val 37758"/>
            </a:avLst>
          </a:prstGeom>
          <a:solidFill>
            <a:srgbClr val="0A1F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Text 109"/>
          <p:cNvSpPr/>
          <p:nvPr/>
        </p:nvSpPr>
        <p:spPr>
          <a:xfrm>
            <a:off x="6191176" y="357131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4B8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914" dirty="0"/>
          </a:p>
        </p:txBody>
      </p:sp>
      <p:sp>
        <p:nvSpPr>
          <p:cNvPr id="117" name="Text 110"/>
          <p:cNvSpPr/>
          <p:nvPr/>
        </p:nvSpPr>
        <p:spPr>
          <a:xfrm>
            <a:off x="6326907" y="3566852"/>
            <a:ext cx="35068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dirty="0">
                <a:solidFill>
                  <a:srgbClr val="FAF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Walrus</a:t>
            </a:r>
            <a:endParaRPr lang="en-US" sz="800" dirty="0"/>
          </a:p>
        </p:txBody>
      </p:sp>
      <p:sp>
        <p:nvSpPr>
          <p:cNvPr id="118" name="Text 111"/>
          <p:cNvSpPr/>
          <p:nvPr/>
        </p:nvSpPr>
        <p:spPr>
          <a:xfrm>
            <a:off x="6615001" y="3569531"/>
            <a:ext cx="195749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FAFAF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blob_id: 0x…</a:t>
            </a:r>
            <a:endParaRPr lang="en-US" sz="800" dirty="0"/>
          </a:p>
        </p:txBody>
      </p:sp>
      <p:sp>
        <p:nvSpPr>
          <p:cNvPr id="119" name="Text 112"/>
          <p:cNvSpPr/>
          <p:nvPr/>
        </p:nvSpPr>
        <p:spPr>
          <a:xfrm>
            <a:off x="8192319" y="4343400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120" name="Shape 113"/>
          <p:cNvSpPr/>
          <p:nvPr/>
        </p:nvSpPr>
        <p:spPr>
          <a:xfrm>
            <a:off x="400050" y="4604147"/>
            <a:ext cx="834390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21" name="Text 114"/>
          <p:cNvSpPr/>
          <p:nvPr/>
        </p:nvSpPr>
        <p:spPr>
          <a:xfrm>
            <a:off x="400050" y="472201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73737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914" dirty="0"/>
          </a:p>
        </p:txBody>
      </p:sp>
      <p:sp>
        <p:nvSpPr>
          <p:cNvPr id="122" name="Text 115"/>
          <p:cNvSpPr/>
          <p:nvPr/>
        </p:nvSpPr>
        <p:spPr>
          <a:xfrm>
            <a:off x="550069" y="4709517"/>
            <a:ext cx="77628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URL:</a:t>
            </a:r>
            <a:endParaRPr lang="en-US" sz="800" dirty="0"/>
          </a:p>
        </p:txBody>
      </p:sp>
      <p:sp>
        <p:nvSpPr>
          <p:cNvPr id="123" name="Text 116"/>
          <p:cNvSpPr/>
          <p:nvPr/>
        </p:nvSpPr>
        <p:spPr>
          <a:xfrm>
            <a:off x="1269578" y="4709517"/>
            <a:ext cx="1175250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preview-link.space-z.ai</a:t>
            </a:r>
            <a:endParaRPr lang="en-US" sz="800" dirty="0"/>
          </a:p>
        </p:txBody>
      </p:sp>
      <p:sp>
        <p:nvSpPr>
          <p:cNvPr id="124" name="Text 117"/>
          <p:cNvSpPr/>
          <p:nvPr/>
        </p:nvSpPr>
        <p:spPr>
          <a:xfrm>
            <a:off x="7404274" y="4679156"/>
            <a:ext cx="1339676" cy="178594"/>
          </a:xfrm>
          <a:prstGeom prst="roundRect">
            <a:avLst>
              <a:gd name="adj" fmla="val 532799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Text 118"/>
          <p:cNvSpPr/>
          <p:nvPr/>
        </p:nvSpPr>
        <p:spPr>
          <a:xfrm>
            <a:off x="7611442" y="4729163"/>
            <a:ext cx="1132508" cy="120701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Wallet: Google zkLogin (auto)</a:t>
            </a:r>
            <a:endParaRPr lang="en-US" sz="800" dirty="0"/>
          </a:p>
        </p:txBody>
      </p:sp>
      <p:sp>
        <p:nvSpPr>
          <p:cNvPr id="126" name="Text 119"/>
          <p:cNvSpPr/>
          <p:nvPr/>
        </p:nvSpPr>
        <p:spPr>
          <a:xfrm>
            <a:off x="7489999" y="472916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800" dirty="0"/>
          </a:p>
        </p:txBody>
      </p:sp>
      <p:sp>
        <p:nvSpPr>
          <p:cNvPr id="127" name="Text 120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SahamKita · Sui Overflow 2025</a:t>
            </a:r>
            <a:endParaRPr lang="en-US" sz="800" dirty="0"/>
          </a:p>
        </p:txBody>
      </p:sp>
      <p:sp>
        <p:nvSpPr>
          <p:cNvPr id="128" name="Text 121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04 / 08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71189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ARSITEKTUR SUI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3647"/>
            <a:ext cx="5429250" cy="635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Enam kekuatan Sui yang dipakai — bukan gimmick, alasan.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1266453"/>
            <a:ext cx="54292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SahamKita tidak mungkin sebersih ini di EVM. Setiap fitur Sui yang dipakai menyelesaikan masalah konkret yang tidak bisa diselesaikan chain lain tanpa trade-off besar.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01456" y="417266"/>
            <a:ext cx="808204" cy="212027"/>
          </a:xfrm>
          <a:prstGeom prst="roundRect">
            <a:avLst>
              <a:gd name="adj" fmla="val 448786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45773" y="478631"/>
            <a:ext cx="45530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SUI-NATIVE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10041" y="47684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14" dirty="0"/>
          </a:p>
        </p:txBody>
      </p:sp>
      <p:sp>
        <p:nvSpPr>
          <p:cNvPr id="8" name="Text 6"/>
          <p:cNvSpPr/>
          <p:nvPr/>
        </p:nvSpPr>
        <p:spPr>
          <a:xfrm>
            <a:off x="7757443" y="646509"/>
            <a:ext cx="11235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/ 6 FITUR DIPAKAI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772" y="1722760"/>
            <a:ext cx="2659819" cy="1235087"/>
          </a:xfrm>
          <a:prstGeom prst="roundRect">
            <a:avLst>
              <a:gd name="adj" fmla="val 12339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2931" y="1854919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863" y="188385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964406" y="1926357"/>
            <a:ext cx="202402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Object-Centric Model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2931" y="2197819"/>
            <a:ext cx="2395500" cy="43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UMKM, saham, dan stream adalah object Move punya ID unik. Ownership langsung tanpa registry mapping.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6503" y="2660377"/>
            <a:ext cx="2388357" cy="176026"/>
          </a:xfrm>
          <a:prstGeom prst="roundRect">
            <a:avLst>
              <a:gd name="adj" fmla="val 43289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2931" y="2656805"/>
            <a:ext cx="2395500" cy="183170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UMKM NFT · Share token · Stream object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42035" y="1722760"/>
            <a:ext cx="2659819" cy="1235087"/>
          </a:xfrm>
          <a:prstGeom prst="roundRect">
            <a:avLst>
              <a:gd name="adj" fmla="val 12339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74194" y="1854919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03126" y="188385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3745669" y="1926357"/>
            <a:ext cx="203067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Programmable Transaction Blocks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74194" y="2197819"/>
            <a:ext cx="2395500" cy="334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Distribusi profit ke ratusan investor dieksekusi dalam 1 tx atomik. Tidak ada window partial failure.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77766" y="2562932"/>
            <a:ext cx="2388357" cy="273472"/>
          </a:xfrm>
          <a:prstGeom prst="roundRect">
            <a:avLst>
              <a:gd name="adj" fmla="val 27864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74194" y="2559360"/>
            <a:ext cx="2395500" cy="280615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Bulk profit distribution · Buy + mint receipt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23297" y="1722760"/>
            <a:ext cx="2659931" cy="1235087"/>
          </a:xfrm>
          <a:prstGeom prst="roundRect">
            <a:avLst>
              <a:gd name="adj" fmla="val 12339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55457" y="1854919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84389" y="188385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6526932" y="1926357"/>
            <a:ext cx="202413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zkLogin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55457" y="2197819"/>
            <a:ext cx="2395612" cy="43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Investor pemula login pakai Google/Twitch — tanpa install wallet atau backup seed phrase. Zero-knowledge proof jaga privasi.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59029" y="2660377"/>
            <a:ext cx="2388468" cy="176026"/>
          </a:xfrm>
          <a:prstGeom prst="roundRect">
            <a:avLst>
              <a:gd name="adj" fmla="val 43289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55457" y="2656805"/>
            <a:ext cx="2395612" cy="183170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Onboarding investor &amp; UMKM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0772" y="3079291"/>
            <a:ext cx="2659819" cy="1332533"/>
          </a:xfrm>
          <a:prstGeom prst="roundRect">
            <a:avLst>
              <a:gd name="adj" fmla="val 1143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2931" y="32114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1863" y="324038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33" name="Text 31"/>
          <p:cNvSpPr/>
          <p:nvPr/>
        </p:nvSpPr>
        <p:spPr>
          <a:xfrm>
            <a:off x="964406" y="3282888"/>
            <a:ext cx="202402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Sponsored Transactions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2931" y="3554350"/>
            <a:ext cx="2395500" cy="52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Transaksi pertama investor disponsori platform. User tidak perlu SUI untuk mulai — zero gas barrier.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6503" y="4114354"/>
            <a:ext cx="2388357" cy="176026"/>
          </a:xfrm>
          <a:prstGeom prst="roundRect">
            <a:avLst>
              <a:gd name="adj" fmla="val 43289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2931" y="4110782"/>
            <a:ext cx="2395500" cy="183170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First-time buy &amp; withdraw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42035" y="3079291"/>
            <a:ext cx="2659819" cy="1332533"/>
          </a:xfrm>
          <a:prstGeom prst="roundRect">
            <a:avLst>
              <a:gd name="adj" fmla="val 1143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74194" y="32114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03126" y="324038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40" name="Text 38"/>
          <p:cNvSpPr/>
          <p:nvPr/>
        </p:nvSpPr>
        <p:spPr>
          <a:xfrm>
            <a:off x="3745669" y="3282888"/>
            <a:ext cx="202402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Walrus Storage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74194" y="3554350"/>
            <a:ext cx="2395500" cy="43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Dokumen legal UMKM (Akta, NPWP, laporan keuangan) disimpan permanen di Walrus dengan blob ID on-chain. Immutable audit trail.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77766" y="4016908"/>
            <a:ext cx="2388357" cy="273472"/>
          </a:xfrm>
          <a:prstGeom prst="roundRect">
            <a:avLst>
              <a:gd name="adj" fmla="val 27864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74194" y="4013336"/>
            <a:ext cx="2395500" cy="280615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UMKM document verification · DAO jury proof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23297" y="3079291"/>
            <a:ext cx="2659931" cy="1332533"/>
          </a:xfrm>
          <a:prstGeom prst="roundRect">
            <a:avLst>
              <a:gd name="adj" fmla="val 1143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55457" y="32114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84389" y="324038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47" name="Text 45"/>
          <p:cNvSpPr/>
          <p:nvPr/>
        </p:nvSpPr>
        <p:spPr>
          <a:xfrm>
            <a:off x="6526932" y="3282888"/>
            <a:ext cx="202413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DeepBook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55457" y="3554350"/>
            <a:ext cx="2395612" cy="52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Saham UMKM yang sudah list bisa dipasar sekunder via DeepBook central limit orderbook. Likuiditas tanpa exit window.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59029" y="4114354"/>
            <a:ext cx="2388468" cy="176026"/>
          </a:xfrm>
          <a:prstGeom prst="roundRect">
            <a:avLst>
              <a:gd name="adj" fmla="val 43289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55457" y="4110782"/>
            <a:ext cx="2395612" cy="183170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Secondary market (live demo)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SahamKita · Sui Overflow 2025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05 / 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71189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PASAR &amp; MOMENTUM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3647"/>
            <a:ext cx="5429250" cy="58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RWA + UMKM Indonesia — pasar miliaran dollar yang terabaikan.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57200" y="1219349"/>
            <a:ext cx="5429250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Indonesia punya populasi 280 juta dengan adopsi crypto tinggi (rank 7 global), tapi penetrasi RWA masih &lt; 0.1%. SahamKita adalah jembatan antara UMKM tradisional dan investor crypto-native muda.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34198" y="417266"/>
            <a:ext cx="1375462" cy="212027"/>
          </a:xfrm>
          <a:prstGeom prst="roundRect">
            <a:avLst>
              <a:gd name="adj" fmla="val 44878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78514" y="478631"/>
            <a:ext cx="102256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RANK 7 CRYPTO GLOBAL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42783" y="47684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14" dirty="0"/>
          </a:p>
        </p:txBody>
      </p:sp>
      <p:sp>
        <p:nvSpPr>
          <p:cNvPr id="8" name="Text 6"/>
          <p:cNvSpPr/>
          <p:nvPr/>
        </p:nvSpPr>
        <p:spPr>
          <a:xfrm>
            <a:off x="6925977" y="646509"/>
            <a:ext cx="19016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280M POPULASI · 1.8M INVESTOR CRYPTO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772" y="1650429"/>
            <a:ext cx="8222456" cy="1278731"/>
          </a:xfrm>
          <a:prstGeom prst="roundRect">
            <a:avLst>
              <a:gd name="adj" fmla="val 10428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2931" y="1768301"/>
            <a:ext cx="72664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UKURAN PASAR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73640" y="1776338"/>
            <a:ext cx="6774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→ SAM → SOM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2931" y="2025476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2994" y="1968326"/>
            <a:ext cx="7458075" cy="242888"/>
          </a:xfrm>
          <a:prstGeom prst="roundRect">
            <a:avLst>
              <a:gd name="adj" fmla="val 31372"/>
            </a:avLst>
          </a:prstGeom>
          <a:solidFill>
            <a:srgbClr val="F3EC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994" y="1968326"/>
            <a:ext cx="7458075" cy="2428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3006" y="2038648"/>
            <a:ext cx="6286165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 RWA tokenization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522034" y="2025476"/>
            <a:ext cx="9290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$16T by 2030 (BCG)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2931" y="2325514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2994" y="2268364"/>
            <a:ext cx="7458075" cy="242888"/>
          </a:xfrm>
          <a:prstGeom prst="roundRect">
            <a:avLst>
              <a:gd name="adj" fmla="val 31372"/>
            </a:avLst>
          </a:prstGeom>
          <a:solidFill>
            <a:srgbClr val="F3EC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94" y="2268364"/>
            <a:ext cx="5593556" cy="2428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93006" y="2338685"/>
            <a:ext cx="4369966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Indonesia UMKM + investor retail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605835" y="2325514"/>
            <a:ext cx="980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Rp 1.2Q funding gap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92931" y="2625551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092994" y="2568401"/>
            <a:ext cx="7458075" cy="242888"/>
          </a:xfrm>
          <a:prstGeom prst="roundRect">
            <a:avLst>
              <a:gd name="adj" fmla="val 31372"/>
            </a:avLst>
          </a:prstGeom>
          <a:solidFill>
            <a:srgbClr val="F3EC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94" y="2568401"/>
            <a:ext cx="1864519" cy="242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93006" y="2638723"/>
            <a:ext cx="800184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Year 1-2 target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1980047" y="2625551"/>
            <a:ext cx="8774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Rp 50M / 500 UMKM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60772" y="3036317"/>
            <a:ext cx="1985963" cy="889620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78644" y="3154189"/>
            <a:ext cx="175021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688" dirty="0"/>
          </a:p>
        </p:txBody>
      </p:sp>
      <p:sp>
        <p:nvSpPr>
          <p:cNvPr id="29" name="Text 24"/>
          <p:cNvSpPr/>
          <p:nvPr/>
        </p:nvSpPr>
        <p:spPr>
          <a:xfrm>
            <a:off x="578644" y="3425651"/>
            <a:ext cx="1750219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UMKM demo onboarded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578644" y="3588172"/>
            <a:ext cx="1750219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spans kuliner, kopi, laundry, kerajinan, pertanian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2539603" y="3036317"/>
            <a:ext cx="1985963" cy="889620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2657475" y="3154189"/>
            <a:ext cx="175021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688" dirty="0"/>
          </a:p>
        </p:txBody>
      </p:sp>
      <p:sp>
        <p:nvSpPr>
          <p:cNvPr id="33" name="Text 28"/>
          <p:cNvSpPr/>
          <p:nvPr/>
        </p:nvSpPr>
        <p:spPr>
          <a:xfrm>
            <a:off x="2657475" y="3425651"/>
            <a:ext cx="1855232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 features aktif dipakai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2657475" y="3588172"/>
            <a:ext cx="1750219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object, PTB, zkLogin, sponsored, Walrus, DeepBook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4618434" y="3036317"/>
            <a:ext cx="1985963" cy="889620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4736306" y="3154189"/>
            <a:ext cx="175021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~800ms</a:t>
            </a:r>
            <a:endParaRPr lang="en-US" sz="1688" dirty="0"/>
          </a:p>
        </p:txBody>
      </p:sp>
      <p:sp>
        <p:nvSpPr>
          <p:cNvPr id="37" name="Text 32"/>
          <p:cNvSpPr/>
          <p:nvPr/>
        </p:nvSpPr>
        <p:spPr>
          <a:xfrm>
            <a:off x="4736306" y="3425651"/>
            <a:ext cx="1750219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PTB finality di testnet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4736306" y="3588172"/>
            <a:ext cx="1855232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distribusi 152 investor atomik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6697266" y="3036317"/>
            <a:ext cx="1985963" cy="889620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6815138" y="3154189"/>
            <a:ext cx="175021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0.03 SUI</a:t>
            </a:r>
            <a:endParaRPr lang="en-US" sz="1688" dirty="0"/>
          </a:p>
        </p:txBody>
      </p:sp>
      <p:sp>
        <p:nvSpPr>
          <p:cNvPr id="41" name="Text 36"/>
          <p:cNvSpPr/>
          <p:nvPr/>
        </p:nvSpPr>
        <p:spPr>
          <a:xfrm>
            <a:off x="6815138" y="3425651"/>
            <a:ext cx="1750219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gas cost distribusi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6815138" y="3588172"/>
            <a:ext cx="1750219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vs $4-12 di Ethereum L1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457200" y="4015234"/>
            <a:ext cx="1847106" cy="189309"/>
          </a:xfrm>
          <a:prstGeom prst="roundRect">
            <a:avLst>
              <a:gd name="adj" fmla="val 502642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678656" y="4065240"/>
            <a:ext cx="1654225" cy="11970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10 adopsi crypto global (Indonesia)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542925" y="40634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914" dirty="0"/>
          </a:p>
        </p:txBody>
      </p:sp>
      <p:sp>
        <p:nvSpPr>
          <p:cNvPr id="46" name="Text 41"/>
          <p:cNvSpPr/>
          <p:nvPr/>
        </p:nvSpPr>
        <p:spPr>
          <a:xfrm>
            <a:off x="2361456" y="4015234"/>
            <a:ext cx="1699989" cy="189309"/>
          </a:xfrm>
          <a:prstGeom prst="roundRect">
            <a:avLst>
              <a:gd name="adj" fmla="val 502642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2582912" y="4065240"/>
            <a:ext cx="1507108" cy="11970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1.8M investor crypto Indonesia aktif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447181" y="40634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914" dirty="0"/>
          </a:p>
        </p:txBody>
      </p:sp>
      <p:sp>
        <p:nvSpPr>
          <p:cNvPr id="49" name="Text 44"/>
          <p:cNvSpPr/>
          <p:nvPr/>
        </p:nvSpPr>
        <p:spPr>
          <a:xfrm>
            <a:off x="4118595" y="4015234"/>
            <a:ext cx="1637035" cy="189309"/>
          </a:xfrm>
          <a:prstGeom prst="roundRect">
            <a:avLst>
              <a:gd name="adj" fmla="val 502642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4340051" y="4065240"/>
            <a:ext cx="4346749" cy="11970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 UMKM target pipeline Q1 2026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4204320" y="40634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52" name="Text 47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SahamKita · Sui Overflow 2025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06 / 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77052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3647"/>
            <a:ext cx="54292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Dari hackathon ini ke mainnet dalam 6 bulan.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956481"/>
            <a:ext cx="5429250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SahamKita sudah punya MVP lengkap dengan 5 alur. Setelah Sui Overflow, kita deploy ke testnet publik, onboarding UMKM pilot, lalu mainnet dengan DAO jury aktif.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77073" y="417266"/>
            <a:ext cx="1232587" cy="212027"/>
          </a:xfrm>
          <a:prstGeom prst="roundRect">
            <a:avLst>
              <a:gd name="adj" fmla="val 448786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21389" y="478631"/>
            <a:ext cx="87968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BULAN KE MAINNET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585658" y="47684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914" dirty="0"/>
          </a:p>
        </p:txBody>
      </p:sp>
      <p:sp>
        <p:nvSpPr>
          <p:cNvPr id="8" name="Text 6"/>
          <p:cNvSpPr/>
          <p:nvPr/>
        </p:nvSpPr>
        <p:spPr>
          <a:xfrm>
            <a:off x="7855223" y="646509"/>
            <a:ext cx="10053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Q3 2025 → Q2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86371" y="1491146"/>
            <a:ext cx="7571259" cy="0"/>
          </a:xfrm>
          <a:prstGeom prst="line">
            <a:avLst/>
          </a:prstGeom>
          <a:noFill/>
          <a:ln w="14288">
            <a:solidFill>
              <a:srgbClr val="0D9488"/>
            </a:solidFill>
            <a:prstDash val="dot"/>
          </a:ln>
        </p:spPr>
      </p:sp>
      <p:sp>
        <p:nvSpPr>
          <p:cNvPr id="10" name="Text 8"/>
          <p:cNvSpPr/>
          <p:nvPr/>
        </p:nvSpPr>
        <p:spPr>
          <a:xfrm>
            <a:off x="457200" y="1626877"/>
            <a:ext cx="1993106" cy="1482105"/>
          </a:xfrm>
          <a:prstGeom prst="roundRect">
            <a:avLst>
              <a:gd name="adj" fmla="val 102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637593"/>
            <a:ext cx="1993106" cy="0"/>
          </a:xfrm>
          <a:prstGeom prst="line">
            <a:avLst/>
          </a:prstGeom>
          <a:noFill/>
          <a:ln w="21431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6734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5410"/>
            <a:ext cx="199310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772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4356" y="1761716"/>
            <a:ext cx="14802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Q3 2025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47479" y="1739642"/>
            <a:ext cx="307043" cy="162020"/>
          </a:xfrm>
          <a:prstGeom prst="roundRect">
            <a:avLst>
              <a:gd name="adj" fmla="val 587302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58851" y="1748321"/>
            <a:ext cx="28429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4356" y="1950132"/>
            <a:ext cx="17787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Hackathon MVP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4356" y="2158640"/>
            <a:ext cx="1778794" cy="93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alur lengkap (marketplace, portfolio, owner, secondary, DAO)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Move contracts (stream.move + saham_kita.move) — belum published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Demo data 6 UMKM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zkLogin mock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36031" y="1626877"/>
            <a:ext cx="1993106" cy="1482105"/>
          </a:xfrm>
          <a:prstGeom prst="roundRect">
            <a:avLst>
              <a:gd name="adj" fmla="val 102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536031" y="1637593"/>
            <a:ext cx="1993106" cy="0"/>
          </a:xfrm>
          <a:prstGeom prst="line">
            <a:avLst/>
          </a:prstGeom>
          <a:noFill/>
          <a:ln w="21431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5566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36031" y="3105410"/>
            <a:ext cx="199310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39603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43188" y="1761716"/>
            <a:ext cx="14636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Q4 2025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09130" y="1739642"/>
            <a:ext cx="324884" cy="162020"/>
          </a:xfrm>
          <a:prstGeom prst="roundRect">
            <a:avLst>
              <a:gd name="adj" fmla="val 587302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121162" y="1748321"/>
            <a:ext cx="30081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43188" y="1950132"/>
            <a:ext cx="17787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Testnet Public Launch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43188" y="2158640"/>
            <a:ext cx="1778794" cy="8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Publish Move contracts ke Sui testnet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@mysten/dapp-kit integration (sudah siap di code)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Walrus upload untuk dokumen UMKM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UMKM pilot onboarded (Bandung area)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4863" y="1626877"/>
            <a:ext cx="1993106" cy="1482105"/>
          </a:xfrm>
          <a:prstGeom prst="roundRect">
            <a:avLst>
              <a:gd name="adj" fmla="val 102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14863" y="1637593"/>
            <a:ext cx="1993106" cy="0"/>
          </a:xfrm>
          <a:prstGeom prst="line">
            <a:avLst/>
          </a:prstGeom>
          <a:noFill/>
          <a:ln w="21431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04397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4863" y="3105410"/>
            <a:ext cx="199310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8434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2019" y="1761716"/>
            <a:ext cx="13315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Q1 2026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50515" y="1739642"/>
            <a:ext cx="467616" cy="162020"/>
          </a:xfrm>
          <a:prstGeom prst="roundRect">
            <a:avLst>
              <a:gd name="adj" fmla="val 587302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67834" y="1748321"/>
            <a:ext cx="43297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MAINNET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22019" y="1950132"/>
            <a:ext cx="17787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 Mainnet Launch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22019" y="2158640"/>
            <a:ext cx="1778794" cy="6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DAO jury aktif (5 jury terpilih)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DeepBook secondary market live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Onboarding 100 UMKM (target)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Integrasi payment on-ramp (IDR → SUI)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93694" y="1626877"/>
            <a:ext cx="1993106" cy="1482105"/>
          </a:xfrm>
          <a:prstGeom prst="roundRect">
            <a:avLst>
              <a:gd name="adj" fmla="val 102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693694" y="1637593"/>
            <a:ext cx="1993106" cy="0"/>
          </a:xfrm>
          <a:prstGeom prst="line">
            <a:avLst/>
          </a:prstGeom>
          <a:noFill/>
          <a:ln w="21431">
            <a:solidFill>
              <a:srgbClr val="D9770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3228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93694" y="3105410"/>
            <a:ext cx="199310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97266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00850" y="1761716"/>
            <a:ext cx="12432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Q2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37522" y="1739642"/>
            <a:ext cx="562972" cy="162020"/>
          </a:xfrm>
          <a:prstGeom prst="roundRect">
            <a:avLst>
              <a:gd name="adj" fmla="val 587302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058373" y="1748321"/>
            <a:ext cx="52127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EXPANSION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00850" y="1950132"/>
            <a:ext cx="17787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 Expansion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00850" y="2158640"/>
            <a:ext cx="1778794" cy="8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Vietnam &amp; Filipina pilot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app (React Native + dapp-kit)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SuiStream primitive packaged sebagai SDK open-source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Partnership dengan koperasi UMKM nasional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0772" y="3212567"/>
            <a:ext cx="4057650" cy="413891"/>
          </a:xfrm>
          <a:prstGeom prst="roundRect">
            <a:avLst>
              <a:gd name="adj" fmla="val 27616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64356" y="33409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52" name="Text 50"/>
          <p:cNvSpPr/>
          <p:nvPr/>
        </p:nvSpPr>
        <p:spPr>
          <a:xfrm>
            <a:off x="807244" y="3287576"/>
            <a:ext cx="123344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bulan</a:t>
            </a:r>
            <a:endParaRPr lang="en-US" sz="1238" dirty="0"/>
          </a:p>
        </p:txBody>
      </p:sp>
      <p:sp>
        <p:nvSpPr>
          <p:cNvPr id="53" name="Text 51"/>
          <p:cNvSpPr/>
          <p:nvPr/>
        </p:nvSpPr>
        <p:spPr>
          <a:xfrm>
            <a:off x="807244" y="3444739"/>
            <a:ext cx="1059987" cy="10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dari hackathon ke mainnet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25578" y="3212567"/>
            <a:ext cx="4057650" cy="413891"/>
          </a:xfrm>
          <a:prstGeom prst="roundRect">
            <a:avLst>
              <a:gd name="adj" fmla="val 27616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29163" y="33409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547" dirty="0"/>
          </a:p>
        </p:txBody>
      </p:sp>
      <p:sp>
        <p:nvSpPr>
          <p:cNvPr id="56" name="Text 54"/>
          <p:cNvSpPr/>
          <p:nvPr/>
        </p:nvSpPr>
        <p:spPr>
          <a:xfrm>
            <a:off x="4972050" y="3287576"/>
            <a:ext cx="1633776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$50K</a:t>
            </a:r>
            <a:endParaRPr lang="en-US" sz="1238" dirty="0"/>
          </a:p>
        </p:txBody>
      </p:sp>
      <p:sp>
        <p:nvSpPr>
          <p:cNvPr id="57" name="Text 55"/>
          <p:cNvSpPr/>
          <p:nvPr/>
        </p:nvSpPr>
        <p:spPr>
          <a:xfrm>
            <a:off x="4972050" y="3444739"/>
            <a:ext cx="1352970" cy="10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estimated launch cost (gas + audit)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SahamKita · Sui Overflow 2025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07 / 08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446609" y="1451856"/>
            <a:ext cx="78581" cy="78581"/>
          </a:xfrm>
          <a:prstGeom prst="ellipse">
            <a:avLst/>
          </a:prstGeom>
          <a:solidFill>
            <a:srgbClr val="FDF8F0"/>
          </a:solidFill>
          <a:ln w="21431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3504009" y="1451856"/>
            <a:ext cx="78581" cy="78581"/>
          </a:xfrm>
          <a:prstGeom prst="ellipse">
            <a:avLst/>
          </a:prstGeom>
          <a:solidFill>
            <a:srgbClr val="FDF8F0"/>
          </a:solidFill>
          <a:ln w="21431">
            <a:solidFill>
              <a:srgbClr val="D9770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561409" y="1451856"/>
            <a:ext cx="78581" cy="78581"/>
          </a:xfrm>
          <a:prstGeom prst="ellipse">
            <a:avLst/>
          </a:prstGeom>
          <a:solidFill>
            <a:srgbClr val="FDF8F0"/>
          </a:solidFill>
          <a:ln w="21431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618809" y="1451856"/>
            <a:ext cx="78581" cy="78581"/>
          </a:xfrm>
          <a:prstGeom prst="ellipse">
            <a:avLst/>
          </a:prstGeom>
          <a:solidFill>
            <a:srgbClr val="FDF8F0"/>
          </a:solidFill>
          <a:ln w="21431">
            <a:solidFill>
              <a:srgbClr val="D9770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77052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 &amp; ASK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3647"/>
            <a:ext cx="5429250" cy="67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 builder Indonesia, juri Sui — bantu kami onboard.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7707570" y="431554"/>
            <a:ext cx="1002090" cy="212027"/>
          </a:xfrm>
          <a:prstGeom prst="roundRect">
            <a:avLst>
              <a:gd name="adj" fmla="val 448786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51887" y="492919"/>
            <a:ext cx="6491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SLIDE PENUTUP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16155" y="49113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7" name="Text 5"/>
          <p:cNvSpPr/>
          <p:nvPr/>
        </p:nvSpPr>
        <p:spPr>
          <a:xfrm>
            <a:off x="8099785" y="660797"/>
            <a:ext cx="709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TERIMA KASIH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8650" y="1377851"/>
            <a:ext cx="33682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8499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60772" y="1617166"/>
            <a:ext cx="3613845" cy="623292"/>
          </a:xfrm>
          <a:prstGeom prst="roundRect">
            <a:avLst>
              <a:gd name="adj" fmla="val 21394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69" y="1757363"/>
            <a:ext cx="342900" cy="342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3647" y="1810941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👤</a:t>
            </a:r>
            <a:endParaRPr lang="en-US" sz="1238" dirty="0"/>
          </a:p>
        </p:txBody>
      </p:sp>
      <p:sp>
        <p:nvSpPr>
          <p:cNvPr id="13" name="Text 10"/>
          <p:cNvSpPr/>
          <p:nvPr/>
        </p:nvSpPr>
        <p:spPr>
          <a:xfrm>
            <a:off x="992981" y="1706463"/>
            <a:ext cx="2992338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 Builder</a:t>
            </a:r>
            <a:endParaRPr lang="en-US" sz="844" dirty="0"/>
          </a:p>
        </p:txBody>
      </p:sp>
      <p:sp>
        <p:nvSpPr>
          <p:cNvPr id="14" name="Text 11"/>
          <p:cNvSpPr/>
          <p:nvPr/>
        </p:nvSpPr>
        <p:spPr>
          <a:xfrm>
            <a:off x="992981" y="1849338"/>
            <a:ext cx="3102066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Fullstack + Smart Contract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81824" y="2012966"/>
            <a:ext cx="301256" cy="146018"/>
          </a:xfrm>
          <a:prstGeom prst="roundRect">
            <a:avLst>
              <a:gd name="adj" fmla="val 651664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992981" y="2020788"/>
            <a:ext cx="27894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Move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294358" y="2012966"/>
            <a:ext cx="358639" cy="146018"/>
          </a:xfrm>
          <a:prstGeom prst="roundRect">
            <a:avLst>
              <a:gd name="adj" fmla="val 651664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307641" y="2020788"/>
            <a:ext cx="33207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652573" y="2012966"/>
            <a:ext cx="638763" cy="146018"/>
          </a:xfrm>
          <a:prstGeom prst="roundRect">
            <a:avLst>
              <a:gd name="adj" fmla="val 651664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675433" y="2020788"/>
            <a:ext cx="59304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 ecosystem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60772" y="2319040"/>
            <a:ext cx="3613845" cy="623292"/>
          </a:xfrm>
          <a:prstGeom prst="roundRect">
            <a:avLst>
              <a:gd name="adj" fmla="val 21394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9" y="2459236"/>
            <a:ext cx="342900" cy="3429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03647" y="2512814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🎨</a:t>
            </a:r>
            <a:endParaRPr lang="en-US" sz="1238" dirty="0"/>
          </a:p>
        </p:txBody>
      </p:sp>
      <p:sp>
        <p:nvSpPr>
          <p:cNvPr id="24" name="Text 20"/>
          <p:cNvSpPr/>
          <p:nvPr/>
        </p:nvSpPr>
        <p:spPr>
          <a:xfrm>
            <a:off x="992981" y="2408337"/>
            <a:ext cx="2992338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Designer</a:t>
            </a:r>
            <a:endParaRPr lang="en-US" sz="844" dirty="0"/>
          </a:p>
        </p:txBody>
      </p:sp>
      <p:sp>
        <p:nvSpPr>
          <p:cNvPr id="25" name="Text 21"/>
          <p:cNvSpPr/>
          <p:nvPr/>
        </p:nvSpPr>
        <p:spPr>
          <a:xfrm>
            <a:off x="992981" y="2551212"/>
            <a:ext cx="299233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UI/UX + Brand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980712" y="2714839"/>
            <a:ext cx="331274" cy="146018"/>
          </a:xfrm>
          <a:prstGeom prst="roundRect">
            <a:avLst>
              <a:gd name="adj" fmla="val 651664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992981" y="2722662"/>
            <a:ext cx="30673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Figma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312575" y="2714839"/>
            <a:ext cx="623359" cy="146018"/>
          </a:xfrm>
          <a:prstGeom prst="roundRect">
            <a:avLst>
              <a:gd name="adj" fmla="val 651664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1335435" y="2722662"/>
            <a:ext cx="57763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Motion design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932692" y="2714839"/>
            <a:ext cx="434706" cy="146018"/>
          </a:xfrm>
          <a:prstGeom prst="roundRect">
            <a:avLst>
              <a:gd name="adj" fmla="val 651664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1948793" y="2722662"/>
            <a:ext cx="40250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Web3 UX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57200" y="3017341"/>
            <a:ext cx="3620988" cy="164592"/>
          </a:xfrm>
          <a:prstGeom prst="rect">
            <a:avLst/>
          </a:prstGeom>
          <a:noFill/>
          <a:ln/>
        </p:spPr>
        <p:txBody>
          <a:bodyPr wrap="square" lIns="28575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Based in Indonesia · Building for 280M population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478238" y="1377851"/>
            <a:ext cx="1366333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YANG KITA MINTA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4306788" y="138499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125" dirty="0"/>
          </a:p>
        </p:txBody>
      </p:sp>
      <p:sp>
        <p:nvSpPr>
          <p:cNvPr id="35" name="Text 31"/>
          <p:cNvSpPr/>
          <p:nvPr/>
        </p:nvSpPr>
        <p:spPr>
          <a:xfrm>
            <a:off x="4310360" y="1617166"/>
            <a:ext cx="4372756" cy="450056"/>
          </a:xfrm>
          <a:prstGeom prst="roundRect">
            <a:avLst>
              <a:gd name="adj" fmla="val 3386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4413945" y="1706463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453235" y="1745754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1013" dirty="0"/>
          </a:p>
        </p:txBody>
      </p:sp>
      <p:sp>
        <p:nvSpPr>
          <p:cNvPr id="38" name="Text 34"/>
          <p:cNvSpPr/>
          <p:nvPr/>
        </p:nvSpPr>
        <p:spPr>
          <a:xfrm>
            <a:off x="4771132" y="1706463"/>
            <a:ext cx="380840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Win Sui Overflow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771132" y="1847887"/>
            <a:ext cx="3808400" cy="13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Visibility + grant untuk audit smart contract + mainnet deployment cost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310360" y="2138660"/>
            <a:ext cx="4372756" cy="450056"/>
          </a:xfrm>
          <a:prstGeom prst="roundRect">
            <a:avLst>
              <a:gd name="adj" fmla="val 3386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4413945" y="2227957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4453235" y="2267248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</a:t>
            </a:r>
            <a:endParaRPr lang="en-US" sz="1013" dirty="0"/>
          </a:p>
        </p:txBody>
      </p:sp>
      <p:sp>
        <p:nvSpPr>
          <p:cNvPr id="43" name="Text 39"/>
          <p:cNvSpPr/>
          <p:nvPr/>
        </p:nvSpPr>
        <p:spPr>
          <a:xfrm>
            <a:off x="4771132" y="2227957"/>
            <a:ext cx="380840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Intro ke koperasi UMKM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771132" y="2369381"/>
            <a:ext cx="3808400" cy="13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100+ UMKM pilot — kamu yang kenal ekosistem Indonesia?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310360" y="2660154"/>
            <a:ext cx="4372756" cy="450056"/>
          </a:xfrm>
          <a:prstGeom prst="roundRect">
            <a:avLst>
              <a:gd name="adj" fmla="val 3386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4413945" y="2749451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4453235" y="2788741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endParaRPr lang="en-US" sz="1013" dirty="0"/>
          </a:p>
        </p:txBody>
      </p:sp>
      <p:sp>
        <p:nvSpPr>
          <p:cNvPr id="48" name="Text 44"/>
          <p:cNvSpPr/>
          <p:nvPr/>
        </p:nvSpPr>
        <p:spPr>
          <a:xfrm>
            <a:off x="4771132" y="2749451"/>
            <a:ext cx="3918128" cy="11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SuiStream ecosystem feedback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4771132" y="2890875"/>
            <a:ext cx="3808400" cy="13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Primitive kami open-source — feedback dari Sui core team akan shape roadmap SDK</a:t>
            </a:r>
            <a:endParaRPr lang="en-US" sz="800" dirty="0"/>
          </a:p>
        </p:txBody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29868"/>
            <a:ext cx="8229600" cy="511448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460772" y="3233440"/>
            <a:ext cx="8222456" cy="504304"/>
          </a:xfrm>
          <a:prstGeom prst="roundRect">
            <a:avLst>
              <a:gd name="adj" fmla="val 26442"/>
            </a:avLst>
          </a:prstGeom>
          <a:noFill/>
          <a:ln w="7144">
            <a:solidFill>
              <a:srgbClr val="0D9488"/>
            </a:solidFill>
            <a:prstDash val="solid"/>
          </a:ln>
          <a:effectLst>
            <a:outerShdw sx="100000" sy="100000" kx="0" ky="0" algn="bl" rotWithShape="0" blurRad="285750" dist="76200" dir="5400000">
              <a:srgbClr val="0D9488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607219" y="3392723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828" dirty="0"/>
          </a:p>
        </p:txBody>
      </p:sp>
      <p:sp>
        <p:nvSpPr>
          <p:cNvPr id="53" name="Text 48"/>
          <p:cNvSpPr/>
          <p:nvPr/>
        </p:nvSpPr>
        <p:spPr>
          <a:xfrm>
            <a:off x="878681" y="3337024"/>
            <a:ext cx="1628407" cy="1411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Coba live demo sekarang</a:t>
            </a:r>
            <a:endParaRPr lang="en-US" sz="1013" dirty="0"/>
          </a:p>
        </p:txBody>
      </p:sp>
      <p:sp>
        <p:nvSpPr>
          <p:cNvPr id="54" name="Text 49"/>
          <p:cNvSpPr/>
          <p:nvPr/>
        </p:nvSpPr>
        <p:spPr>
          <a:xfrm>
            <a:off x="878681" y="3505572"/>
            <a:ext cx="167493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preview-link.space-z.ai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7398380" y="3326343"/>
            <a:ext cx="1161261" cy="318497"/>
          </a:xfrm>
          <a:prstGeom prst="roundRect">
            <a:avLst>
              <a:gd name="adj" fmla="val 23925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1"/>
          <p:cNvSpPr/>
          <p:nvPr/>
        </p:nvSpPr>
        <p:spPr>
          <a:xfrm>
            <a:off x="7564115" y="3424870"/>
            <a:ext cx="67262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Jelajahi Demo</a:t>
            </a:r>
            <a:endParaRPr lang="en-US" sz="800" dirty="0"/>
          </a:p>
        </p:txBody>
      </p:sp>
      <p:sp>
        <p:nvSpPr>
          <p:cNvPr id="57" name="Text 52"/>
          <p:cNvSpPr/>
          <p:nvPr/>
        </p:nvSpPr>
        <p:spPr>
          <a:xfrm>
            <a:off x="8279606" y="342844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58" name="Text 53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SahamKita · Sui Overflow 2025 · Terima kasih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08 /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2026-06-17T22:39:21Z</dcterms:created>
  <dcterms:modified xsi:type="dcterms:W3CDTF">2026-06-17T22:39:21Z</dcterms:modified>
</cp:coreProperties>
</file>