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Hook: Indonesian MSMEs are massive (64 million) but underfunded — paraphrase this paradox in the first second.
- Emphasize Sui's uniqueness: SuiStream is a composable money stream primitive — not just a payment channel.
- Product combo: marketplace (app) + SuiStream (primitive) — two layers that reinforce each other.
- Deliver the tagline "Profits flow per second" as the product's core promise.
- Mention key stats: 6 verified MSMEs, 47-312 investors per MSME, 18-23% estimated APY.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Open with the paradox: 64 million MSMEs = 60% of GDP but credit access below 12%.
- Explain the Rp 1.2Q annual funding gap — a neglected market, not a small market.
- Emphasize investor-side demand: crypto-native Gen Z &amp; millennials need small-ticket investment access.
- Compare the three legacy channels (bank, public stocks, crowdfunding) — all have barriers.
- Transition to the solution: need a fractional marketplace + real-time profit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Explain why the two-layer combo matters: reusable primitive for other apps, app showcases the primitive.
- SuiStream can be used by other apps (payroll, subscriptions, rentals) — not just Arthavest.
- Profit distribution executes atomically via PTB — no partial failure window.
- Walrus proof in step 3 serves as an immutable audit trail — reports cannot be manipulated.
- Highlight step 5: sub-second withdrawal is the investor experience that sets us apart from EVM.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Guide the jury through 5 tabs in sequence: Marketplace → Portfolio → MSME Dashboard → Secondary Market → DAO Jury.
- Mention wallet auto-connect via zkLogin — jury doesn't need to install anything, just click Google.
- Highlight DeepBook as a bonus feature for the secondary market (liquidity without exit windows).
- Highlight DAO Jury as a bonus governance feature — trust layer for MSME profit reports.
- Onboard MSME (tile 6) shows the Walrus upload flow — immutable audit trail for legal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Emphasize every Sui feature solves a concrete problem — not a feature checklist.
- PTB bulk distribution is the killer feature: 152 atomic investors, impossible on EVM without tx loops.
- Walrus = trust layer: immutable legal documents, proof for DAO jury.
- DeepBook provides secondary liquidity without exit window — different from typical crowdfunding.
- zkLogin + sponsored tx = zero-friction onboarding for Indonesian first-time investors.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Opening anchor: Indonesia ranks 7 globally in crypto adoption — but RWA is still &lt; 0.1%.
- Explain the funnel TAM ($16T) → SAM (Rp 1.2Q MSME funding gap) → SOM (Rp 50M from 500 MSMEs year 1-2).
- Demo traction: 6 MSMEs live, 8 active Sui features — not slide ware.
- Highlight gas comparison: 0.03 SUI vs $4-12 on Ethereum L1 — profit distribution cost becomes viable.
- ~800ms finality for 152 atomic investors — show that PTB is not theory.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Emphasize the MVP is substantial: 5 complete flows, not a demo slide.
- Q4 2025 publish to testnet — Move contracts ready, dapp-kit integration already in code.
- Q1 2026 mainnet with DAO jury + DeepBook live — proven profit distribution model.
- SuiStream open-source SDK in Q2 2026 will attract other ecosystem builders.
- Cost to mainnet &lt; $50K (gas + audit) — realistic bootstrap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Close with the first ask: winning = grant for audit + mainnet deployment.
- Second ask: request intro to MSME cooperatives — pipeline of 100+ pilots.
- Third ask: feedback from Sui core team for open-source SuiStream SDK.
- Show the live demo URL: preview-link.space-z.ai — invite jury to try it directly.
- Closing: thank you, team based in Indonesia, building for 280M population.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81255" y="-428625"/>
            <a:ext cx="1962745" cy="2160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750"/>
              </a:lnSpc>
              <a:buNone/>
            </a:pPr>
            <a:r>
              <a:rPr lang="en-US" sz="15750" b="1" spc="-630" kern="0" dirty="0">
                <a:solidFill>
                  <a:srgbClr val="FAFAF7">
                    <a:alpha val="4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1575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42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14350" y="457200"/>
            <a:ext cx="1930152" cy="189309"/>
          </a:xfrm>
          <a:prstGeom prst="roundRect">
            <a:avLst>
              <a:gd name="adj" fmla="val 5026425"/>
            </a:avLst>
          </a:prstGeom>
          <a:solidFill>
            <a:srgbClr val="FFFFF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735806" y="507206"/>
            <a:ext cx="7019181" cy="119703"/>
          </a:xfrm>
          <a:prstGeom prst="rect">
            <a:avLst/>
          </a:prstGeom>
          <a:noFill/>
          <a:ln/>
        </p:spPr>
        <p:txBody>
          <a:bodyPr wrap="none" lIns="85725" tIns="35719" rIns="85725" bIns="35719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87" kern="0" dirty="0">
                <a:solidFill>
                  <a:srgbClr val="FAFAF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SUI OVERFLOW HACKATHON 2025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600075" y="505420"/>
            <a:ext cx="92869" cy="928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14" dirty="0">
                <a:solidFill>
                  <a:srgbClr val="FCD34D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914" dirty="0"/>
          </a:p>
        </p:txBody>
      </p:sp>
      <p:sp>
        <p:nvSpPr>
          <p:cNvPr id="8" name="Text 4"/>
          <p:cNvSpPr/>
          <p:nvPr/>
        </p:nvSpPr>
        <p:spPr>
          <a:xfrm>
            <a:off x="7769275" y="492919"/>
            <a:ext cx="112814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11" kern="0" dirty="0">
                <a:solidFill>
                  <a:srgbClr val="FAFAF7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DECK · 01 / 08</a:t>
            </a:r>
            <a:endParaRPr lang="en-US" sz="8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790501"/>
            <a:ext cx="257175" cy="25717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39353" y="815504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FAFAF7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1406" dirty="0"/>
          </a:p>
        </p:txBody>
      </p:sp>
      <p:sp>
        <p:nvSpPr>
          <p:cNvPr id="11" name="Text 6"/>
          <p:cNvSpPr/>
          <p:nvPr/>
        </p:nvSpPr>
        <p:spPr>
          <a:xfrm>
            <a:off x="857250" y="822647"/>
            <a:ext cx="831770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b="1" spc="-10" kern="0" dirty="0">
                <a:solidFill>
                  <a:srgbClr val="FAFAF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Arthavest</a:t>
            </a:r>
            <a:endParaRPr lang="en-US" sz="1013" dirty="0"/>
          </a:p>
        </p:txBody>
      </p:sp>
      <p:sp>
        <p:nvSpPr>
          <p:cNvPr id="12" name="Text 7"/>
          <p:cNvSpPr/>
          <p:nvPr/>
        </p:nvSpPr>
        <p:spPr>
          <a:xfrm>
            <a:off x="1524633" y="904801"/>
            <a:ext cx="28575" cy="28575"/>
          </a:xfrm>
          <a:prstGeom prst="ellipse">
            <a:avLst/>
          </a:prstGeom>
          <a:solidFill>
            <a:srgbClr val="FAFAF7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8"/>
          <p:cNvSpPr/>
          <p:nvPr/>
        </p:nvSpPr>
        <p:spPr>
          <a:xfrm>
            <a:off x="1638933" y="860152"/>
            <a:ext cx="516191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62" kern="0" dirty="0">
                <a:solidFill>
                  <a:srgbClr val="FAFAF7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RWA · UMKM · SuiStream</a:t>
            </a:r>
            <a:endParaRPr lang="en-US" sz="800" dirty="0"/>
          </a:p>
        </p:txBody>
      </p:sp>
      <p:sp>
        <p:nvSpPr>
          <p:cNvPr id="14" name="Text 9"/>
          <p:cNvSpPr/>
          <p:nvPr/>
        </p:nvSpPr>
        <p:spPr>
          <a:xfrm>
            <a:off x="514350" y="1247701"/>
            <a:ext cx="6915150" cy="1652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016"/>
              </a:lnSpc>
              <a:buNone/>
            </a:pPr>
            <a:r>
              <a:rPr lang="en-US" sz="3825" b="1" spc="-96" kern="0" dirty="0">
                <a:solidFill>
                  <a:srgbClr val="FAFAF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Invest in Indonesian MSMEs.</a:t>
            </a:r>
            <a:endParaRPr lang="en-US" sz="3825" dirty="0"/>
          </a:p>
          <a:p>
            <a:pPr algn="l" indent="0" marL="0">
              <a:lnSpc>
                <a:spcPts val="4016"/>
              </a:lnSpc>
              <a:buNone/>
            </a:pPr>
            <a:r>
              <a:rPr lang="en-US" sz="3825" b="1" spc="-96" kern="0" dirty="0">
                <a:solidFill>
                  <a:srgbClr val="F59E0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Profits flow per second.</a:t>
            </a:r>
            <a:endParaRPr lang="en-US" sz="3825" dirty="0"/>
          </a:p>
        </p:txBody>
      </p:sp>
      <p:sp>
        <p:nvSpPr>
          <p:cNvPr id="15" name="Text 10"/>
          <p:cNvSpPr/>
          <p:nvPr/>
        </p:nvSpPr>
        <p:spPr>
          <a:xfrm>
            <a:off x="514350" y="2977716"/>
            <a:ext cx="5143500" cy="763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dirty="0">
                <a:solidFill>
                  <a:srgbClr val="FAFAF7">
                    <a:alpha val="7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Fractional ownership marketplace for MSMEs with profit distribution via SuiStream primitive on the Sui network. Zero platform fee, zero manual transfer, atomic.</a:t>
            </a:r>
            <a:endParaRPr lang="en-US" sz="1238" dirty="0"/>
          </a:p>
        </p:txBody>
      </p:sp>
      <p:sp>
        <p:nvSpPr>
          <p:cNvPr id="16" name="Text 11"/>
          <p:cNvSpPr/>
          <p:nvPr/>
        </p:nvSpPr>
        <p:spPr>
          <a:xfrm>
            <a:off x="514350" y="4275534"/>
            <a:ext cx="342900" cy="7144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2"/>
          <p:cNvSpPr/>
          <p:nvPr/>
        </p:nvSpPr>
        <p:spPr>
          <a:xfrm>
            <a:off x="643607" y="4396978"/>
            <a:ext cx="4144415" cy="126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15" kern="0" dirty="0">
                <a:solidFill>
                  <a:srgbClr val="FAFAF7">
                    <a:alpha val="8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verified MSMEs investors per MSME estimated APY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514350" y="4382691"/>
            <a:ext cx="9737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15" kern="0" dirty="0">
                <a:solidFill>
                  <a:srgbClr val="FCD34D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1523851" y="4382691"/>
            <a:ext cx="9353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15" kern="0" dirty="0">
                <a:solidFill>
                  <a:srgbClr val="FAFAF7">
                    <a:alpha val="3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1653108" y="4382691"/>
            <a:ext cx="149371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15" kern="0" dirty="0">
                <a:solidFill>
                  <a:srgbClr val="14B8A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47–312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3182541" y="4382691"/>
            <a:ext cx="9353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15" kern="0" dirty="0">
                <a:solidFill>
                  <a:srgbClr val="FAFAF7">
                    <a:alpha val="3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3311798" y="4382691"/>
            <a:ext cx="116923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15" kern="0" dirty="0">
                <a:solidFill>
                  <a:srgbClr val="F59E0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18–23%</a:t>
            </a:r>
            <a:endParaRPr lang="en-US" sz="800" dirty="0"/>
          </a:p>
        </p:txBody>
      </p:sp>
      <p:sp>
        <p:nvSpPr>
          <p:cNvPr id="23" name="Text 18"/>
          <p:cNvSpPr/>
          <p:nvPr/>
        </p:nvSpPr>
        <p:spPr>
          <a:xfrm>
            <a:off x="514350" y="4579144"/>
            <a:ext cx="428401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90" kern="0" dirty="0">
                <a:solidFill>
                  <a:srgbClr val="FAFAF7">
                    <a:alpha val="4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 ON SUI · MOVE-NATIVE · ZKLOGIN READY</a:t>
            </a:r>
            <a:endParaRPr lang="en-US" sz="800" dirty="0"/>
          </a:p>
        </p:txBody>
      </p:sp>
      <p:pic>
        <p:nvPicPr>
          <p:cNvPr id="24" name="Image 3" descr="/tmp/h2p-svg-1781977821166-smjmyv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3650" y="3829050"/>
            <a:ext cx="2286000" cy="85725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57200" y="4854178"/>
            <a:ext cx="75593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FAFAF7">
                    <a:alpha val="5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Arthavest · Sui Overflow 2025</a:t>
            </a:r>
            <a:endParaRPr lang="en-US" sz="800" dirty="0"/>
          </a:p>
        </p:txBody>
      </p:sp>
      <p:sp>
        <p:nvSpPr>
          <p:cNvPr id="26" name="Text 20"/>
          <p:cNvSpPr/>
          <p:nvPr/>
        </p:nvSpPr>
        <p:spPr>
          <a:xfrm>
            <a:off x="8030803" y="4854178"/>
            <a:ext cx="78912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FAFAF7">
                    <a:alpha val="5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Slide 01 / 08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37897" y="3143250"/>
            <a:ext cx="1506103" cy="154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dirty="0">
                <a:solidFill>
                  <a:srgbClr val="0D9488">
                    <a:alpha val="4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11250" dirty="0"/>
          </a:p>
        </p:txBody>
      </p:sp>
      <p:sp>
        <p:nvSpPr>
          <p:cNvPr id="3" name="Text 1"/>
          <p:cNvSpPr/>
          <p:nvPr/>
        </p:nvSpPr>
        <p:spPr>
          <a:xfrm>
            <a:off x="457200" y="400050"/>
            <a:ext cx="653653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11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PROBLEM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008019" y="437555"/>
            <a:ext cx="42863" cy="42863"/>
          </a:xfrm>
          <a:prstGeom prst="ellipse">
            <a:avLst/>
          </a:prstGeom>
          <a:solidFill>
            <a:srgbClr val="E11D4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108031" y="405408"/>
            <a:ext cx="170507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90" kern="0" dirty="0">
                <a:solidFill>
                  <a:srgbClr val="A3A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 · UMKM + INVESTOR GAP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689372"/>
            <a:ext cx="4771355" cy="1140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2"/>
              </a:lnSpc>
              <a:buNone/>
            </a:pPr>
            <a:r>
              <a:rPr lang="en-US" sz="2475" b="1" spc="-49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Indonesia's MSMEs are massive,</a:t>
            </a:r>
            <a:endParaRPr lang="en-US" sz="2475" dirty="0"/>
          </a:p>
          <a:p>
            <a:pPr algn="l" indent="0" marL="0">
              <a:lnSpc>
                <a:spcPts val="2772"/>
              </a:lnSpc>
              <a:buNone/>
            </a:pPr>
            <a:r>
              <a:rPr lang="en-US" sz="2475" b="1" spc="-49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but investors have no access.</a:t>
            </a:r>
            <a:endParaRPr lang="en-US" sz="2475" dirty="0"/>
          </a:p>
        </p:txBody>
      </p:sp>
      <p:sp>
        <p:nvSpPr>
          <p:cNvPr id="7" name="Text 5"/>
          <p:cNvSpPr/>
          <p:nvPr/>
        </p:nvSpPr>
        <p:spPr>
          <a:xfrm>
            <a:off x="457200" y="1873783"/>
            <a:ext cx="342900" cy="21431"/>
          </a:xfrm>
          <a:prstGeom prst="roundRect">
            <a:avLst>
              <a:gd name="adj" fmla="val 88890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2023802"/>
            <a:ext cx="3429000" cy="1048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956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64 million MSMEs contribute 60% of Indonesia's GDP, but 9 out of 10 cannot access bank loans. Retail investors also have no small-ticket investment channel to local businesses — minimum Rp 100 million at securities firms, no fractional ownership, no real-time profit.</a:t>
            </a:r>
            <a:endParaRPr lang="en-US" sz="956" dirty="0"/>
          </a:p>
        </p:txBody>
      </p:sp>
      <p:sp>
        <p:nvSpPr>
          <p:cNvPr id="9" name="Text 7"/>
          <p:cNvSpPr/>
          <p:nvPr/>
        </p:nvSpPr>
        <p:spPr>
          <a:xfrm>
            <a:off x="457200" y="3152068"/>
            <a:ext cx="4337596" cy="705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139"/>
              </a:lnSpc>
              <a:spcAft>
                <a:spcPts val="619"/>
              </a:spcAft>
              <a:buSzPct val="100000"/>
              <a:buChar char="•"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Bank loans require collateral &amp; 6-12 month process — 87% of MSMEs rejected</a:t>
            </a:r>
            <a:endParaRPr lang="en-US" sz="800" dirty="0"/>
          </a:p>
          <a:p>
            <a:pPr algn="l" marL="342900" indent="-342900">
              <a:lnSpc>
                <a:spcPts val="1139"/>
              </a:lnSpc>
              <a:spcAft>
                <a:spcPts val="619"/>
              </a:spcAft>
              <a:buSzPct val="100000"/>
              <a:buChar char="•"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Public stocks require Rp 100M min — barrier too high for Gen Z &amp; millennials</a:t>
            </a:r>
            <a:endParaRPr lang="en-US" sz="800" dirty="0"/>
          </a:p>
          <a:p>
            <a:pPr algn="l" marL="342900" indent="-342900">
              <a:lnSpc>
                <a:spcPts val="1139"/>
              </a:lnSpc>
              <a:spcAft>
                <a:spcPts val="619"/>
              </a:spcAft>
              <a:buSzPct val="100000"/>
              <a:buChar char="•"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Conventional crowdfunding charges platform fee 10-20% &amp; monthly manual transfers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4634508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73737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↘</a:t>
            </a:r>
            <a:endParaRPr lang="en-US" sz="984" dirty="0"/>
          </a:p>
        </p:txBody>
      </p:sp>
      <p:sp>
        <p:nvSpPr>
          <p:cNvPr id="11" name="Text 9"/>
          <p:cNvSpPr/>
          <p:nvPr/>
        </p:nvSpPr>
        <p:spPr>
          <a:xfrm>
            <a:off x="614363" y="4625578"/>
            <a:ext cx="418043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50" kern="0" dirty="0">
                <a:solidFill>
                  <a:srgbClr val="7373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Indonesia's funding gap grows 8.4% YoY · informal sector neglected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141268" y="692944"/>
            <a:ext cx="3541961" cy="899331"/>
          </a:xfrm>
          <a:prstGeom prst="roundRect">
            <a:avLst>
              <a:gd name="adj" fmla="val 16946"/>
            </a:avLst>
          </a:prstGeom>
          <a:solidFill>
            <a:srgbClr val="FFFFFF"/>
          </a:solidFill>
          <a:ln w="7144">
            <a:solidFill>
              <a:srgbClr val="0D9488"/>
            </a:solidFill>
            <a:prstDash val="solid"/>
          </a:ln>
          <a:effectLst>
            <a:outerShdw sx="100000" sy="100000" kx="0" ky="0" algn="bl" rotWithShape="0" blurRad="285750" dist="76200" dir="5400000">
              <a:srgbClr val="0D9488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287714" y="825103"/>
            <a:ext cx="3249067" cy="354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588" b="1" dirty="0">
                <a:solidFill>
                  <a:srgbClr val="0D948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64M</a:t>
            </a:r>
            <a:endParaRPr lang="en-US" sz="2588" dirty="0"/>
          </a:p>
        </p:txBody>
      </p:sp>
      <p:sp>
        <p:nvSpPr>
          <p:cNvPr id="14" name="Text 12"/>
          <p:cNvSpPr/>
          <p:nvPr/>
        </p:nvSpPr>
        <p:spPr>
          <a:xfrm>
            <a:off x="5287714" y="1210866"/>
            <a:ext cx="2991468" cy="1146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1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Active MSMEs in Indonesia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287714" y="1352959"/>
            <a:ext cx="3214047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23" kern="0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source: Kemenkop UKM 2024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65319" y="1006822"/>
            <a:ext cx="271463" cy="271463"/>
          </a:xfrm>
          <a:prstGeom prst="roundRect">
            <a:avLst>
              <a:gd name="adj" fmla="val 42105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97466" y="1038969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D94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406" dirty="0"/>
          </a:p>
        </p:txBody>
      </p:sp>
      <p:sp>
        <p:nvSpPr>
          <p:cNvPr id="18" name="Text 16"/>
          <p:cNvSpPr/>
          <p:nvPr/>
        </p:nvSpPr>
        <p:spPr>
          <a:xfrm>
            <a:off x="5141268" y="1699431"/>
            <a:ext cx="3541961" cy="899331"/>
          </a:xfrm>
          <a:prstGeom prst="roundRect">
            <a:avLst>
              <a:gd name="adj" fmla="val 16946"/>
            </a:avLst>
          </a:prstGeom>
          <a:solidFill>
            <a:srgbClr val="FFFFFF"/>
          </a:solidFill>
          <a:ln w="7144">
            <a:solidFill>
              <a:srgbClr val="0D9488"/>
            </a:solidFill>
            <a:prstDash val="solid"/>
          </a:ln>
          <a:effectLst>
            <a:outerShdw sx="100000" sy="100000" kx="0" ky="0" algn="bl" rotWithShape="0" blurRad="285750" dist="76200" dir="5400000">
              <a:srgbClr val="0D9488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287714" y="1831591"/>
            <a:ext cx="3249067" cy="354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588" b="1" dirty="0">
                <a:solidFill>
                  <a:srgbClr val="D9770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60%</a:t>
            </a:r>
            <a:endParaRPr lang="en-US" sz="2588" dirty="0"/>
          </a:p>
        </p:txBody>
      </p:sp>
      <p:sp>
        <p:nvSpPr>
          <p:cNvPr id="20" name="Text 18"/>
          <p:cNvSpPr/>
          <p:nvPr/>
        </p:nvSpPr>
        <p:spPr>
          <a:xfrm>
            <a:off x="5287714" y="2217353"/>
            <a:ext cx="3076938" cy="1146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951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contribution to Indonesia's GDP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287714" y="2359447"/>
            <a:ext cx="3214047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23" kern="0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 credit access &lt; 12%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265319" y="2013310"/>
            <a:ext cx="271463" cy="271463"/>
          </a:xfrm>
          <a:prstGeom prst="roundRect">
            <a:avLst>
              <a:gd name="adj" fmla="val 42105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297466" y="2045457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D97706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◐</a:t>
            </a:r>
            <a:endParaRPr lang="en-US" sz="1406" dirty="0"/>
          </a:p>
        </p:txBody>
      </p:sp>
      <p:sp>
        <p:nvSpPr>
          <p:cNvPr id="24" name="Text 22"/>
          <p:cNvSpPr/>
          <p:nvPr/>
        </p:nvSpPr>
        <p:spPr>
          <a:xfrm>
            <a:off x="5141268" y="2705919"/>
            <a:ext cx="3541961" cy="870756"/>
          </a:xfrm>
          <a:prstGeom prst="roundRect">
            <a:avLst>
              <a:gd name="adj" fmla="val 17502"/>
            </a:avLst>
          </a:prstGeom>
          <a:solidFill>
            <a:srgbClr val="FFFFFF"/>
          </a:solidFill>
          <a:ln w="7144">
            <a:solidFill>
              <a:srgbClr val="E11D48"/>
            </a:solidFill>
            <a:prstDash val="solid"/>
          </a:ln>
          <a:effectLst>
            <a:outerShdw sx="100000" sy="100000" kx="0" ky="0" algn="bl" rotWithShape="0" blurRad="285750" dist="76200" dir="5400000">
              <a:srgbClr val="E11D48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287714" y="2838078"/>
            <a:ext cx="3249067" cy="324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363" b="1" dirty="0">
                <a:solidFill>
                  <a:srgbClr val="E11D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Rp 1.2Q</a:t>
            </a:r>
            <a:endParaRPr lang="en-US" sz="2363" dirty="0"/>
          </a:p>
        </p:txBody>
      </p:sp>
      <p:sp>
        <p:nvSpPr>
          <p:cNvPr id="26" name="Text 24"/>
          <p:cNvSpPr/>
          <p:nvPr/>
        </p:nvSpPr>
        <p:spPr>
          <a:xfrm>
            <a:off x="5287714" y="3195265"/>
            <a:ext cx="2991468" cy="1146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1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annual funding gap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287714" y="3337359"/>
            <a:ext cx="3076938" cy="107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23" kern="0" dirty="0">
                <a:solidFill>
                  <a:srgbClr val="A3A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Indonesia's informal sector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65319" y="3005510"/>
            <a:ext cx="271463" cy="271463"/>
          </a:xfrm>
          <a:prstGeom prst="roundRect">
            <a:avLst>
              <a:gd name="adj" fmla="val 42105"/>
            </a:avLst>
          </a:prstGeom>
          <a:solidFill>
            <a:srgbClr val="FFE4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297466" y="3037656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E11D4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$</a:t>
            </a:r>
            <a:endParaRPr lang="en-US" sz="1406" dirty="0"/>
          </a:p>
        </p:txBody>
      </p:sp>
      <p:sp>
        <p:nvSpPr>
          <p:cNvPr id="30" name="Text 28"/>
          <p:cNvSpPr/>
          <p:nvPr/>
        </p:nvSpPr>
        <p:spPr>
          <a:xfrm>
            <a:off x="457200" y="4854178"/>
            <a:ext cx="75593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Arthavest · Sui Overflow 2025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030803" y="4854178"/>
            <a:ext cx="78912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Slide 02 / 08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43050"/>
            <a:ext cx="2538353" cy="154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dirty="0">
                <a:solidFill>
                  <a:srgbClr val="F59E0B">
                    <a:alpha val="4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11250" dirty="0"/>
          </a:p>
        </p:txBody>
      </p:sp>
      <p:sp>
        <p:nvSpPr>
          <p:cNvPr id="3" name="Text 1"/>
          <p:cNvSpPr/>
          <p:nvPr/>
        </p:nvSpPr>
        <p:spPr>
          <a:xfrm>
            <a:off x="457200" y="342900"/>
            <a:ext cx="8636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11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SOLUTION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6497"/>
            <a:ext cx="8229600" cy="345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250" b="1" spc="-45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Two layers, one experience: </a:t>
            </a:r>
            <a:pPr algn="l" indent="0" marL="0">
              <a:lnSpc>
                <a:spcPts val="2520"/>
              </a:lnSpc>
              <a:buNone/>
            </a:pPr>
            <a:r>
              <a:rPr lang="en-US" sz="2250" b="1" spc="-45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primitive</a:t>
            </a:r>
            <a:pPr algn="l" indent="0" marL="0">
              <a:lnSpc>
                <a:spcPts val="2520"/>
              </a:lnSpc>
              <a:buNone/>
            </a:pPr>
            <a:r>
              <a:rPr lang="en-US" sz="2250" b="1" spc="-45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+ </a:t>
            </a:r>
            <a:pPr algn="l" indent="0" marL="0">
              <a:lnSpc>
                <a:spcPts val="2520"/>
              </a:lnSpc>
              <a:buNone/>
            </a:pPr>
            <a:r>
              <a:rPr lang="en-US" sz="2250" b="1" spc="-45" kern="0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app</a:t>
            </a:r>
            <a:pPr algn="l" indent="0" marL="0">
              <a:lnSpc>
                <a:spcPts val="2520"/>
              </a:lnSpc>
              <a:buNone/>
            </a:pPr>
            <a:r>
              <a:rPr lang="en-US" sz="2250" b="1" spc="-45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457200" y="952240"/>
            <a:ext cx="5143500" cy="358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73737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Arthavest is an app built on top of SuiStream — a composable money-stream primitive. Monthly MSME profits are converted into stream objects that flow to investor wallets every second.</a:t>
            </a:r>
            <a:endParaRPr lang="en-US" sz="844" dirty="0"/>
          </a:p>
        </p:txBody>
      </p:sp>
      <p:sp>
        <p:nvSpPr>
          <p:cNvPr id="6" name="Text 4"/>
          <p:cNvSpPr/>
          <p:nvPr/>
        </p:nvSpPr>
        <p:spPr>
          <a:xfrm>
            <a:off x="457200" y="1455874"/>
            <a:ext cx="4029075" cy="1971675"/>
          </a:xfrm>
          <a:prstGeom prst="roundRect">
            <a:avLst>
              <a:gd name="adj" fmla="val 772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1459446"/>
            <a:ext cx="4029075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82703" y="1455874"/>
            <a:ext cx="0" cy="1971675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423977"/>
            <a:ext cx="4029075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1488" y="1455874"/>
            <a:ext cx="0" cy="1971675"/>
          </a:xfrm>
          <a:prstGeom prst="line">
            <a:avLst/>
          </a:prstGeom>
          <a:noFill/>
          <a:ln w="28575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0078" y="1594534"/>
            <a:ext cx="1155903" cy="212027"/>
          </a:xfrm>
          <a:prstGeom prst="roundRect">
            <a:avLst>
              <a:gd name="adj" fmla="val 4487860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0106" y="1655899"/>
            <a:ext cx="81729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spc="12" kern="0" dirty="0">
                <a:solidFill>
                  <a:srgbClr val="0F766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LAYER 1 · PRIMITIVE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28663" y="1661257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754487" y="1646969"/>
            <a:ext cx="56748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68" kern="0" dirty="0">
                <a:solidFill>
                  <a:srgbClr val="A3A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 NATIVE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2938" y="1866640"/>
            <a:ext cx="1376228" cy="324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spc="-24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SuiStream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1691060" y="2002371"/>
            <a:ext cx="26309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v0.1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2938" y="2209540"/>
            <a:ext cx="367903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Money stream as a Move object — composable, transferable, fractionalizable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20078" y="2437818"/>
            <a:ext cx="928085" cy="206026"/>
          </a:xfrm>
          <a:prstGeom prst="roundRect">
            <a:avLst>
              <a:gd name="adj" fmla="val 4618580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50106" y="2491718"/>
            <a:ext cx="589471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86"/>
              </a:lnSpc>
              <a:buNone/>
            </a:pPr>
            <a:r>
              <a:rPr lang="en-US" sz="800" spc="12" kern="0" dirty="0">
                <a:solidFill>
                  <a:srgbClr val="0F766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Per-second rate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28663" y="2501540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◔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545305" y="2437818"/>
            <a:ext cx="865465" cy="206026"/>
          </a:xfrm>
          <a:prstGeom prst="roundRect">
            <a:avLst>
              <a:gd name="adj" fmla="val 4618580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775333" y="2491718"/>
            <a:ext cx="526852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86"/>
              </a:lnSpc>
              <a:buNone/>
            </a:pPr>
            <a:r>
              <a:rPr lang="en-US" sz="800" spc="12" kern="0" dirty="0">
                <a:solidFill>
                  <a:srgbClr val="0F766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Cliff &amp; vesting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653890" y="2501540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⌇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407913" y="2437818"/>
            <a:ext cx="802734" cy="206026"/>
          </a:xfrm>
          <a:prstGeom prst="roundRect">
            <a:avLst>
              <a:gd name="adj" fmla="val 4618580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637941" y="2491718"/>
            <a:ext cx="464121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86"/>
              </a:lnSpc>
              <a:buNone/>
            </a:pPr>
            <a:r>
              <a:rPr lang="en-US" sz="800" spc="12" kern="0" dirty="0">
                <a:solidFill>
                  <a:srgbClr val="0F766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Transferable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16498" y="2501540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⇄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207789" y="2437818"/>
            <a:ext cx="772038" cy="206026"/>
          </a:xfrm>
          <a:prstGeom prst="roundRect">
            <a:avLst>
              <a:gd name="adj" fmla="val 4618580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437818" y="2491718"/>
            <a:ext cx="43342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86"/>
              </a:lnSpc>
              <a:buNone/>
            </a:pPr>
            <a:r>
              <a:rPr lang="en-US" sz="800" spc="12" kern="0" dirty="0">
                <a:solidFill>
                  <a:srgbClr val="0F766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Cancellable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316374" y="2501540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✕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42938" y="2732819"/>
            <a:ext cx="3679031" cy="266105"/>
          </a:xfrm>
          <a:prstGeom prst="roundRect">
            <a:avLst>
              <a:gd name="adj" fmla="val 28635"/>
            </a:avLst>
          </a:prstGeom>
          <a:solidFill>
            <a:srgbClr val="0A1F1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28663" y="2819437"/>
            <a:ext cx="92869" cy="928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14" dirty="0">
                <a:solidFill>
                  <a:srgbClr val="14B8A6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14" dirty="0"/>
          </a:p>
        </p:txBody>
      </p:sp>
      <p:sp>
        <p:nvSpPr>
          <p:cNvPr id="32" name="Text 30"/>
          <p:cNvSpPr/>
          <p:nvPr/>
        </p:nvSpPr>
        <p:spPr>
          <a:xfrm>
            <a:off x="878681" y="2804257"/>
            <a:ext cx="3070920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suistream::stream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978176" y="2812293"/>
            <a:ext cx="258068" cy="115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dirty="0">
                <a:solidFill>
                  <a:srgbClr val="FAFAF7">
                    <a:alpha val="4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·Move·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657725" y="1455874"/>
            <a:ext cx="4029075" cy="1971675"/>
          </a:xfrm>
          <a:prstGeom prst="roundRect">
            <a:avLst>
              <a:gd name="adj" fmla="val 772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4657725" y="1459446"/>
            <a:ext cx="4029075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83228" y="1455874"/>
            <a:ext cx="0" cy="1971675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657725" y="3423977"/>
            <a:ext cx="4029075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72013" y="1455874"/>
            <a:ext cx="0" cy="1971675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20603" y="1594534"/>
            <a:ext cx="912235" cy="212027"/>
          </a:xfrm>
          <a:prstGeom prst="roundRect">
            <a:avLst>
              <a:gd name="adj" fmla="val 4487860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050631" y="1655899"/>
            <a:ext cx="573621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spc="12" kern="0" dirty="0">
                <a:solidFill>
                  <a:srgbClr val="D9770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LAYER 2 · APP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929188" y="1661257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97706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903443" y="1646969"/>
            <a:ext cx="61905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68" kern="0" dirty="0">
                <a:solidFill>
                  <a:srgbClr val="A3A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CONSUMER APP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843463" y="1866640"/>
            <a:ext cx="1280936" cy="324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spc="-24" kern="0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Arthavest</a:t>
            </a:r>
            <a:endParaRPr lang="en-US" sz="1575" dirty="0"/>
          </a:p>
        </p:txBody>
      </p:sp>
      <p:sp>
        <p:nvSpPr>
          <p:cNvPr id="44" name="Text 42"/>
          <p:cNvSpPr/>
          <p:nvPr/>
        </p:nvSpPr>
        <p:spPr>
          <a:xfrm>
            <a:off x="5824947" y="2002371"/>
            <a:ext cx="269754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A3A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marketplace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843463" y="2209540"/>
            <a:ext cx="367903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MSME marketplace + profit distribution via SuiStream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843463" y="2434568"/>
            <a:ext cx="3679031" cy="943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945"/>
              </a:lnSpc>
              <a:spcAft>
                <a:spcPts val="394"/>
              </a:spcAft>
              <a:buSzPct val="100000"/>
              <a:buFont typeface="+mj-lt"/>
              <a:buAutoNum type="arabicPeriod" startAt="1"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 MSME onboard (mint NFT + share tokens)</a:t>
            </a:r>
            <a:endParaRPr lang="en-US" sz="800" dirty="0"/>
          </a:p>
          <a:p>
            <a:pPr algn="l" marL="342900" indent="-342900">
              <a:lnSpc>
                <a:spcPts val="945"/>
              </a:lnSpc>
              <a:spcAft>
                <a:spcPts val="394"/>
              </a:spcAft>
              <a:buSzPct val="100000"/>
              <a:buFont typeface="+mj-lt"/>
              <a:buAutoNum type="arabicPeriod" startAt="1"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2 Investor buys shares (PTB atomic)</a:t>
            </a:r>
            <a:endParaRPr lang="en-US" sz="800" dirty="0"/>
          </a:p>
          <a:p>
            <a:pPr algn="l" marL="342900" indent="-342900">
              <a:lnSpc>
                <a:spcPts val="945"/>
              </a:lnSpc>
              <a:spcAft>
                <a:spcPts val="394"/>
              </a:spcAft>
              <a:buSzPct val="100000"/>
              <a:buFont typeface="+mj-lt"/>
              <a:buAutoNum type="arabicPeriod" startAt="1"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3 Owner reports profit (Walrus proof)</a:t>
            </a:r>
            <a:endParaRPr lang="en-US" sz="800" dirty="0"/>
          </a:p>
          <a:p>
            <a:pPr algn="l" marL="342900" indent="-342900">
              <a:lnSpc>
                <a:spcPts val="945"/>
              </a:lnSpc>
              <a:spcAft>
                <a:spcPts val="394"/>
              </a:spcAft>
              <a:buSzPct val="100000"/>
              <a:buFont typeface="+mj-lt"/>
              <a:buAutoNum type="arabicPeriod" startAt="1"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4 Automatic distribution (PTB bulk create_stream)</a:t>
            </a:r>
            <a:endParaRPr lang="en-US" sz="800" dirty="0"/>
          </a:p>
          <a:p>
            <a:pPr algn="l" marL="342900" indent="-342900">
              <a:lnSpc>
                <a:spcPts val="945"/>
              </a:lnSpc>
              <a:spcAft>
                <a:spcPts val="394"/>
              </a:spcAft>
              <a:buSzPct val="100000"/>
              <a:buFont typeface="+mj-lt"/>
              <a:buAutoNum type="arabicPeriod" startAt="1"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5 Investor withdraws (sub-second)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300497" y="3600785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D94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84" dirty="0"/>
          </a:p>
        </p:txBody>
      </p:sp>
      <p:sp>
        <p:nvSpPr>
          <p:cNvPr id="48" name="Text 46"/>
          <p:cNvSpPr/>
          <p:nvPr/>
        </p:nvSpPr>
        <p:spPr>
          <a:xfrm>
            <a:off x="1443372" y="3591855"/>
            <a:ext cx="105362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SuiStream primitive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442381" y="3650791"/>
            <a:ext cx="1714500" cy="0"/>
          </a:xfrm>
          <a:prstGeom prst="line">
            <a:avLst/>
          </a:prstGeom>
          <a:noFill/>
          <a:ln w="7144">
            <a:solidFill>
              <a:srgbClr val="0D9488"/>
            </a:solidFill>
            <a:prstDash val="dash"/>
          </a:ln>
        </p:spPr>
      </p:sp>
      <p:sp>
        <p:nvSpPr>
          <p:cNvPr id="50" name="Text 48"/>
          <p:cNvSpPr/>
          <p:nvPr/>
        </p:nvSpPr>
        <p:spPr>
          <a:xfrm>
            <a:off x="4085444" y="3575782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0D94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266" dirty="0"/>
          </a:p>
        </p:txBody>
      </p:sp>
      <p:sp>
        <p:nvSpPr>
          <p:cNvPr id="51" name="Text 49"/>
          <p:cNvSpPr/>
          <p:nvPr/>
        </p:nvSpPr>
        <p:spPr>
          <a:xfrm>
            <a:off x="4234034" y="3544778"/>
            <a:ext cx="959897" cy="212027"/>
          </a:xfrm>
          <a:prstGeom prst="roundRect">
            <a:avLst>
              <a:gd name="adj" fmla="val 4487860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4256894" y="3556136"/>
            <a:ext cx="914177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composed via PTB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271083" y="3650791"/>
            <a:ext cx="1714500" cy="0"/>
          </a:xfrm>
          <a:prstGeom prst="line">
            <a:avLst/>
          </a:prstGeom>
          <a:noFill/>
          <a:ln w="7144">
            <a:solidFill>
              <a:srgbClr val="F59E0B"/>
            </a:solidFill>
            <a:prstDash val="dash"/>
          </a:ln>
        </p:spPr>
      </p:sp>
      <p:sp>
        <p:nvSpPr>
          <p:cNvPr id="54" name="Text 52"/>
          <p:cNvSpPr/>
          <p:nvPr/>
        </p:nvSpPr>
        <p:spPr>
          <a:xfrm>
            <a:off x="7085595" y="3600785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D97706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984" dirty="0"/>
          </a:p>
        </p:txBody>
      </p:sp>
      <p:sp>
        <p:nvSpPr>
          <p:cNvPr id="55" name="Text 53"/>
          <p:cNvSpPr/>
          <p:nvPr/>
        </p:nvSpPr>
        <p:spPr>
          <a:xfrm>
            <a:off x="7228470" y="3591855"/>
            <a:ext cx="72081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Arthavest app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57200" y="4854178"/>
            <a:ext cx="75593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Arthavest · Sui Overflow 2025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8030803" y="4854178"/>
            <a:ext cx="78912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Slide 03 / 08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285750"/>
            <a:ext cx="7125654" cy="133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11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LIVE DEMO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00050" y="446484"/>
            <a:ext cx="5020828" cy="305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2025" b="1" spc="-40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Five main flows, one seamless experience.</a:t>
            </a:r>
            <a:endParaRPr lang="en-US" sz="2025" dirty="0"/>
          </a:p>
        </p:txBody>
      </p:sp>
      <p:sp>
        <p:nvSpPr>
          <p:cNvPr id="4" name="Text 2"/>
          <p:cNvSpPr/>
          <p:nvPr/>
        </p:nvSpPr>
        <p:spPr>
          <a:xfrm>
            <a:off x="7879221" y="478966"/>
            <a:ext cx="57150" cy="57150"/>
          </a:xfrm>
          <a:prstGeom prst="ellipse">
            <a:avLst/>
          </a:prstGeom>
          <a:solidFill>
            <a:srgbClr val="14B8A6"/>
          </a:solidFill>
          <a:ln/>
          <a:effectLst>
            <a:outerShdw sx="100000" sy="100000" kx="0" ky="0" algn="bl" rotWithShape="0" blurRad="101600" dist="50800" dir="16200000">
              <a:srgbClr val="0D9488">
                <a:alpha val="1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993521" y="448605"/>
            <a:ext cx="92593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50" kern="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· TESTNET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00050" y="786482"/>
            <a:ext cx="55721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Each flow built with Sui-native features: zkLogin for onboarding, PTB for atomicity, Walrus for audit trail. Cannot be replicated this cleanly on EVM.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03622" y="1179388"/>
            <a:ext cx="2716969" cy="1619510"/>
          </a:xfrm>
          <a:prstGeom prst="roundRect">
            <a:avLst>
              <a:gd name="adj" fmla="val 9410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7206" y="1282973"/>
            <a:ext cx="14287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📊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07231" y="1299046"/>
            <a:ext cx="98599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MSME Marketplace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868963" y="1298689"/>
            <a:ext cx="159016" cy="140018"/>
          </a:xfrm>
          <a:prstGeom prst="roundRect">
            <a:avLst>
              <a:gd name="adj" fmla="val 6795894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879936" y="1306190"/>
            <a:ext cx="137071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59"/>
              </a:lnSpc>
              <a:buNone/>
            </a:pPr>
            <a:r>
              <a:rPr lang="en-US" sz="800" spc="10" kern="0" dirty="0">
                <a:solidFill>
                  <a:srgbClr val="0F766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endParaRPr lang="en-US" sz="8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206" y="1511573"/>
            <a:ext cx="2509800" cy="378619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64356" y="1554435"/>
            <a:ext cx="199411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☕ Kopi Senja · Bandung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2572755" y="1559793"/>
            <a:ext cx="3871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18.7% APY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64356" y="1700882"/>
            <a:ext cx="2395500" cy="28575"/>
          </a:xfrm>
          <a:prstGeom prst="roundRect">
            <a:avLst>
              <a:gd name="adj" fmla="val 66667"/>
            </a:avLst>
          </a:prstGeom>
          <a:solidFill>
            <a:srgbClr val="000000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64356" y="1700882"/>
            <a:ext cx="1533116" cy="28575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564356" y="1750888"/>
            <a:ext cx="2395500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9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64% funded · 152 investors</a:t>
            </a:r>
            <a:endParaRPr lang="en-US" sz="8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206" y="1933054"/>
            <a:ext cx="2509800" cy="378619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64356" y="1975917"/>
            <a:ext cx="199411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👕</a:t>
            </a:r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Batik Sari · Yogya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2572755" y="1981274"/>
            <a:ext cx="3871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dirty="0">
                <a:solidFill>
                  <a:srgbClr val="0D948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21.4% APY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564356" y="2122363"/>
            <a:ext cx="2395500" cy="28575"/>
          </a:xfrm>
          <a:prstGeom prst="roundRect">
            <a:avLst>
              <a:gd name="adj" fmla="val 66667"/>
            </a:avLst>
          </a:prstGeom>
          <a:solidFill>
            <a:srgbClr val="000000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564356" y="2122363"/>
            <a:ext cx="910270" cy="28575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19"/>
          <p:cNvSpPr/>
          <p:nvPr/>
        </p:nvSpPr>
        <p:spPr>
          <a:xfrm>
            <a:off x="564356" y="2172370"/>
            <a:ext cx="2395500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9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38% funded · 47 investors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2572531" y="2631021"/>
            <a:ext cx="44447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23" kern="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 live →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3213460" y="1179388"/>
            <a:ext cx="2716969" cy="1619510"/>
          </a:xfrm>
          <a:prstGeom prst="roundRect">
            <a:avLst>
              <a:gd name="adj" fmla="val 9410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3317044" y="1282973"/>
            <a:ext cx="14287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💧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3517069" y="1299046"/>
            <a:ext cx="901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Investor Portfolio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5678801" y="1298689"/>
            <a:ext cx="159016" cy="140018"/>
          </a:xfrm>
          <a:prstGeom prst="roundRect">
            <a:avLst>
              <a:gd name="adj" fmla="val 6795894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5689774" y="1306190"/>
            <a:ext cx="137071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59"/>
              </a:lnSpc>
              <a:buNone/>
            </a:pPr>
            <a:r>
              <a:rPr lang="en-US" sz="800" spc="10" kern="0" dirty="0">
                <a:solidFill>
                  <a:srgbClr val="0F766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endParaRPr lang="en-US" sz="800" dirty="0"/>
          </a:p>
        </p:txBody>
      </p:sp>
      <p:sp>
        <p:nvSpPr>
          <p:cNvPr id="30" name="Shape 26"/>
          <p:cNvSpPr/>
          <p:nvPr/>
        </p:nvSpPr>
        <p:spPr>
          <a:xfrm>
            <a:off x="3317044" y="1693738"/>
            <a:ext cx="2509800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dash"/>
          </a:ln>
        </p:spPr>
      </p:sp>
      <p:pic>
        <p:nvPicPr>
          <p:cNvPr id="31" name="Image 2" descr="/tmp/h2p-svg-1781977821126-2sc2q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044" y="1565151"/>
            <a:ext cx="228600" cy="7143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3588507" y="1547292"/>
            <a:ext cx="554546" cy="107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0.150 IDR/s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5783982" y="1579438"/>
            <a:ext cx="42863" cy="42863"/>
          </a:xfrm>
          <a:prstGeom prst="ellipse">
            <a:avLst/>
          </a:prstGeom>
          <a:solidFill>
            <a:srgbClr val="14B8A6"/>
          </a:solidFill>
          <a:ln/>
          <a:effectLst>
            <a:outerShdw sx="100000" sy="100000" kx="0" ky="0" algn="bl" rotWithShape="0" blurRad="101600" dist="50800" dir="16200000">
              <a:srgbClr val="0D9488">
                <a:alpha val="1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Shape 29"/>
          <p:cNvSpPr/>
          <p:nvPr/>
        </p:nvSpPr>
        <p:spPr>
          <a:xfrm>
            <a:off x="3317044" y="1879476"/>
            <a:ext cx="2509800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dash"/>
          </a:ln>
        </p:spPr>
      </p:sp>
      <p:pic>
        <p:nvPicPr>
          <p:cNvPr id="35" name="Image 3" descr="/tmp/h2p-svg-1781977821129-6aq42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044" y="1750888"/>
            <a:ext cx="228600" cy="71438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3588507" y="1733029"/>
            <a:ext cx="554546" cy="107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0.087 IDR/s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5783982" y="1765176"/>
            <a:ext cx="42863" cy="42863"/>
          </a:xfrm>
          <a:prstGeom prst="ellipse">
            <a:avLst/>
          </a:prstGeom>
          <a:solidFill>
            <a:srgbClr val="14B8A6"/>
          </a:solidFill>
          <a:ln/>
          <a:effectLst>
            <a:outerShdw sx="100000" sy="100000" kx="0" ky="0" algn="bl" rotWithShape="0" blurRad="101600" dist="50800" dir="16200000">
              <a:srgbClr val="0D9488">
                <a:alpha val="1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8" name="Image 4" descr="/tmp/h2p-svg-1781977821129-2kx9gq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7044" y="1936626"/>
            <a:ext cx="228600" cy="71438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3588507" y="1918767"/>
            <a:ext cx="5545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0.312 IDR/s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5783982" y="1950913"/>
            <a:ext cx="42863" cy="42863"/>
          </a:xfrm>
          <a:prstGeom prst="ellipse">
            <a:avLst/>
          </a:prstGeom>
          <a:solidFill>
            <a:srgbClr val="14B8A6"/>
          </a:solidFill>
          <a:ln/>
          <a:effectLst>
            <a:outerShdw sx="100000" sy="100000" kx="0" ky="0" algn="bl" rotWithShape="0" blurRad="101600" dist="50800" dir="16200000">
              <a:srgbClr val="0D9488">
                <a:alpha val="1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4"/>
          <p:cNvSpPr/>
          <p:nvPr/>
        </p:nvSpPr>
        <p:spPr>
          <a:xfrm>
            <a:off x="3317044" y="2104504"/>
            <a:ext cx="2509800" cy="203597"/>
          </a:xfrm>
          <a:prstGeom prst="roundRect">
            <a:avLst>
              <a:gd name="adj" fmla="val 28070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5"/>
          <p:cNvSpPr/>
          <p:nvPr/>
        </p:nvSpPr>
        <p:spPr>
          <a:xfrm>
            <a:off x="3374194" y="2152724"/>
            <a:ext cx="1860724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active</a:t>
            </a:r>
            <a:endParaRPr lang="en-US" sz="800" dirty="0"/>
          </a:p>
        </p:txBody>
      </p:sp>
      <p:sp>
        <p:nvSpPr>
          <p:cNvPr id="43" name="Text 36"/>
          <p:cNvSpPr/>
          <p:nvPr/>
        </p:nvSpPr>
        <p:spPr>
          <a:xfrm>
            <a:off x="5249205" y="2147367"/>
            <a:ext cx="520489" cy="11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dirty="0">
                <a:solidFill>
                  <a:srgbClr val="0D948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0.549 IDR/s</a:t>
            </a:r>
            <a:endParaRPr lang="en-US" sz="800" dirty="0"/>
          </a:p>
        </p:txBody>
      </p:sp>
      <p:sp>
        <p:nvSpPr>
          <p:cNvPr id="44" name="Text 37"/>
          <p:cNvSpPr/>
          <p:nvPr/>
        </p:nvSpPr>
        <p:spPr>
          <a:xfrm>
            <a:off x="5382369" y="2631021"/>
            <a:ext cx="44447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23" kern="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 live →</a:t>
            </a:r>
            <a:endParaRPr lang="en-US" sz="800" dirty="0"/>
          </a:p>
        </p:txBody>
      </p:sp>
      <p:sp>
        <p:nvSpPr>
          <p:cNvPr id="45" name="Text 38"/>
          <p:cNvSpPr/>
          <p:nvPr/>
        </p:nvSpPr>
        <p:spPr>
          <a:xfrm>
            <a:off x="6023297" y="1179388"/>
            <a:ext cx="2717081" cy="1619510"/>
          </a:xfrm>
          <a:prstGeom prst="roundRect">
            <a:avLst>
              <a:gd name="adj" fmla="val 9410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39"/>
          <p:cNvSpPr/>
          <p:nvPr/>
        </p:nvSpPr>
        <p:spPr>
          <a:xfrm>
            <a:off x="6126882" y="1282973"/>
            <a:ext cx="14287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900" dirty="0"/>
          </a:p>
        </p:txBody>
      </p:sp>
      <p:sp>
        <p:nvSpPr>
          <p:cNvPr id="47" name="Text 40"/>
          <p:cNvSpPr/>
          <p:nvPr/>
        </p:nvSpPr>
        <p:spPr>
          <a:xfrm>
            <a:off x="6326907" y="1299046"/>
            <a:ext cx="92528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MSME Dashboard</a:t>
            </a:r>
            <a:endParaRPr lang="en-US" sz="800" dirty="0"/>
          </a:p>
        </p:txBody>
      </p:sp>
      <p:sp>
        <p:nvSpPr>
          <p:cNvPr id="48" name="Text 41"/>
          <p:cNvSpPr/>
          <p:nvPr/>
        </p:nvSpPr>
        <p:spPr>
          <a:xfrm>
            <a:off x="8488750" y="1298689"/>
            <a:ext cx="159016" cy="140018"/>
          </a:xfrm>
          <a:prstGeom prst="roundRect">
            <a:avLst>
              <a:gd name="adj" fmla="val 6795894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2"/>
          <p:cNvSpPr/>
          <p:nvPr/>
        </p:nvSpPr>
        <p:spPr>
          <a:xfrm>
            <a:off x="8499723" y="1306190"/>
            <a:ext cx="137071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59"/>
              </a:lnSpc>
              <a:buNone/>
            </a:pPr>
            <a:r>
              <a:rPr lang="en-US" sz="800" spc="10" kern="0" dirty="0">
                <a:solidFill>
                  <a:srgbClr val="D9770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endParaRPr lang="en-US" sz="800" dirty="0"/>
          </a:p>
        </p:txBody>
      </p:sp>
      <p:sp>
        <p:nvSpPr>
          <p:cNvPr id="50" name="Text 43"/>
          <p:cNvSpPr/>
          <p:nvPr/>
        </p:nvSpPr>
        <p:spPr>
          <a:xfrm>
            <a:off x="6126882" y="1511573"/>
            <a:ext cx="2509912" cy="432197"/>
          </a:xfrm>
          <a:prstGeom prst="roundRect">
            <a:avLst>
              <a:gd name="adj" fmla="val 17631"/>
            </a:avLst>
          </a:prstGeom>
          <a:solidFill>
            <a:srgbClr val="FFFB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4"/>
          <p:cNvSpPr/>
          <p:nvPr/>
        </p:nvSpPr>
        <p:spPr>
          <a:xfrm>
            <a:off x="6191176" y="1561579"/>
            <a:ext cx="183583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☕ Kopi Senja</a:t>
            </a:r>
            <a:endParaRPr lang="en-US" sz="800" dirty="0"/>
          </a:p>
        </p:txBody>
      </p:sp>
      <p:sp>
        <p:nvSpPr>
          <p:cNvPr id="52" name="Text 45"/>
          <p:cNvSpPr/>
          <p:nvPr/>
        </p:nvSpPr>
        <p:spPr>
          <a:xfrm>
            <a:off x="8041295" y="1569616"/>
            <a:ext cx="53120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152 investors</a:t>
            </a:r>
            <a:endParaRPr lang="en-US" sz="800" dirty="0"/>
          </a:p>
        </p:txBody>
      </p:sp>
      <p:sp>
        <p:nvSpPr>
          <p:cNvPr id="53" name="Text 46"/>
          <p:cNvSpPr/>
          <p:nvPr/>
        </p:nvSpPr>
        <p:spPr>
          <a:xfrm>
            <a:off x="6126882" y="1986632"/>
            <a:ext cx="2509912" cy="432197"/>
          </a:xfrm>
          <a:prstGeom prst="roundRect">
            <a:avLst>
              <a:gd name="adj" fmla="val 17631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47"/>
          <p:cNvSpPr/>
          <p:nvPr/>
        </p:nvSpPr>
        <p:spPr>
          <a:xfrm>
            <a:off x="6191176" y="2036638"/>
            <a:ext cx="187668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👕</a:t>
            </a:r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Batik Sari</a:t>
            </a:r>
            <a:endParaRPr lang="en-US" sz="800" dirty="0"/>
          </a:p>
        </p:txBody>
      </p:sp>
      <p:sp>
        <p:nvSpPr>
          <p:cNvPr id="55" name="Text 48"/>
          <p:cNvSpPr/>
          <p:nvPr/>
        </p:nvSpPr>
        <p:spPr>
          <a:xfrm>
            <a:off x="8082149" y="2044675"/>
            <a:ext cx="49035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47 investors</a:t>
            </a:r>
            <a:endParaRPr lang="en-US" sz="800" dirty="0"/>
          </a:p>
        </p:txBody>
      </p:sp>
      <p:sp>
        <p:nvSpPr>
          <p:cNvPr id="56" name="Text 49"/>
          <p:cNvSpPr/>
          <p:nvPr/>
        </p:nvSpPr>
        <p:spPr>
          <a:xfrm>
            <a:off x="8192319" y="2631021"/>
            <a:ext cx="44447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23" kern="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 live →</a:t>
            </a:r>
            <a:endParaRPr lang="en-US" sz="800" dirty="0"/>
          </a:p>
        </p:txBody>
      </p:sp>
      <p:sp>
        <p:nvSpPr>
          <p:cNvPr id="57" name="Text 50"/>
          <p:cNvSpPr/>
          <p:nvPr/>
        </p:nvSpPr>
        <p:spPr>
          <a:xfrm>
            <a:off x="403622" y="2891768"/>
            <a:ext cx="2716969" cy="1619510"/>
          </a:xfrm>
          <a:prstGeom prst="roundRect">
            <a:avLst>
              <a:gd name="adj" fmla="val 9410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1"/>
          <p:cNvSpPr/>
          <p:nvPr/>
        </p:nvSpPr>
        <p:spPr>
          <a:xfrm>
            <a:off x="507206" y="2995352"/>
            <a:ext cx="14287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📈</a:t>
            </a:r>
            <a:endParaRPr lang="en-US" sz="900" dirty="0"/>
          </a:p>
        </p:txBody>
      </p:sp>
      <p:sp>
        <p:nvSpPr>
          <p:cNvPr id="59" name="Text 52"/>
          <p:cNvSpPr/>
          <p:nvPr/>
        </p:nvSpPr>
        <p:spPr>
          <a:xfrm>
            <a:off x="707231" y="3011425"/>
            <a:ext cx="93771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Secondary Market</a:t>
            </a:r>
            <a:endParaRPr lang="en-US" sz="800" dirty="0"/>
          </a:p>
        </p:txBody>
      </p:sp>
      <p:sp>
        <p:nvSpPr>
          <p:cNvPr id="60" name="Text 53"/>
          <p:cNvSpPr/>
          <p:nvPr/>
        </p:nvSpPr>
        <p:spPr>
          <a:xfrm>
            <a:off x="2868963" y="3011068"/>
            <a:ext cx="159016" cy="140018"/>
          </a:xfrm>
          <a:prstGeom prst="roundRect">
            <a:avLst>
              <a:gd name="adj" fmla="val 6795894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4"/>
          <p:cNvSpPr/>
          <p:nvPr/>
        </p:nvSpPr>
        <p:spPr>
          <a:xfrm>
            <a:off x="2879936" y="3018569"/>
            <a:ext cx="137071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59"/>
              </a:lnSpc>
              <a:buNone/>
            </a:pPr>
            <a:r>
              <a:rPr lang="en-US" sz="800" spc="10" kern="0" dirty="0">
                <a:solidFill>
                  <a:srgbClr val="D9770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800" dirty="0"/>
          </a:p>
        </p:txBody>
      </p:sp>
      <p:sp>
        <p:nvSpPr>
          <p:cNvPr id="62" name="Text 55"/>
          <p:cNvSpPr/>
          <p:nvPr/>
        </p:nvSpPr>
        <p:spPr>
          <a:xfrm>
            <a:off x="507206" y="3223952"/>
            <a:ext cx="2509800" cy="353616"/>
          </a:xfrm>
          <a:prstGeom prst="roundRect">
            <a:avLst>
              <a:gd name="adj" fmla="val 21549"/>
            </a:avLst>
          </a:prstGeom>
          <a:solidFill>
            <a:srgbClr val="F5F1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56"/>
          <p:cNvSpPr/>
          <p:nvPr/>
        </p:nvSpPr>
        <p:spPr>
          <a:xfrm>
            <a:off x="571500" y="3273958"/>
            <a:ext cx="197111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KSN · Kopi Senja</a:t>
            </a:r>
            <a:endParaRPr lang="en-US" sz="800" dirty="0"/>
          </a:p>
        </p:txBody>
      </p:sp>
      <p:sp>
        <p:nvSpPr>
          <p:cNvPr id="64" name="Text 57"/>
          <p:cNvSpPr/>
          <p:nvPr/>
        </p:nvSpPr>
        <p:spPr>
          <a:xfrm>
            <a:off x="2541072" y="3269886"/>
            <a:ext cx="427473" cy="126016"/>
          </a:xfrm>
          <a:prstGeom prst="roundRect">
            <a:avLst>
              <a:gd name="adj" fmla="val 7551005"/>
            </a:avLst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58"/>
          <p:cNvSpPr/>
          <p:nvPr/>
        </p:nvSpPr>
        <p:spPr>
          <a:xfrm>
            <a:off x="2556904" y="3276637"/>
            <a:ext cx="395808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17"/>
              </a:lnSpc>
              <a:buNone/>
            </a:pPr>
            <a:r>
              <a:rPr lang="en-US" sz="800" spc="10" kern="0" dirty="0">
                <a:solidFill>
                  <a:srgbClr val="FCD34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DeepBook</a:t>
            </a:r>
            <a:endParaRPr lang="en-US" sz="800" dirty="0"/>
          </a:p>
        </p:txBody>
      </p:sp>
      <p:sp>
        <p:nvSpPr>
          <p:cNvPr id="66" name="Text 59"/>
          <p:cNvSpPr/>
          <p:nvPr/>
        </p:nvSpPr>
        <p:spPr>
          <a:xfrm>
            <a:off x="571500" y="3420405"/>
            <a:ext cx="1979712" cy="107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dirty="0">
                <a:solidFill>
                  <a:srgbClr val="E11D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</a:t>
            </a:r>
            <a:pPr algn="l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E11D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1,840</a:t>
            </a:r>
            <a:endParaRPr lang="en-US" sz="800" dirty="0"/>
          </a:p>
        </p:txBody>
      </p:sp>
      <p:sp>
        <p:nvSpPr>
          <p:cNvPr id="67" name="Text 60"/>
          <p:cNvSpPr/>
          <p:nvPr/>
        </p:nvSpPr>
        <p:spPr>
          <a:xfrm>
            <a:off x="2565499" y="3420405"/>
            <a:ext cx="387214" cy="107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 </a:t>
            </a:r>
            <a:pPr algn="l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D948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1,872</a:t>
            </a:r>
            <a:endParaRPr lang="en-US" sz="800" dirty="0"/>
          </a:p>
        </p:txBody>
      </p:sp>
      <p:sp>
        <p:nvSpPr>
          <p:cNvPr id="68" name="Text 61"/>
          <p:cNvSpPr/>
          <p:nvPr/>
        </p:nvSpPr>
        <p:spPr>
          <a:xfrm>
            <a:off x="507206" y="3620430"/>
            <a:ext cx="2509800" cy="353616"/>
          </a:xfrm>
          <a:prstGeom prst="roundRect">
            <a:avLst>
              <a:gd name="adj" fmla="val 21549"/>
            </a:avLst>
          </a:prstGeom>
          <a:solidFill>
            <a:srgbClr val="F5F1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2"/>
          <p:cNvSpPr/>
          <p:nvPr/>
        </p:nvSpPr>
        <p:spPr>
          <a:xfrm>
            <a:off x="571500" y="3670436"/>
            <a:ext cx="197111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BTS · Batik Sari</a:t>
            </a:r>
            <a:endParaRPr lang="en-US" sz="800" dirty="0"/>
          </a:p>
        </p:txBody>
      </p:sp>
      <p:sp>
        <p:nvSpPr>
          <p:cNvPr id="70" name="Text 63"/>
          <p:cNvSpPr/>
          <p:nvPr/>
        </p:nvSpPr>
        <p:spPr>
          <a:xfrm>
            <a:off x="2541072" y="3666364"/>
            <a:ext cx="427473" cy="126016"/>
          </a:xfrm>
          <a:prstGeom prst="roundRect">
            <a:avLst>
              <a:gd name="adj" fmla="val 7551005"/>
            </a:avLst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4"/>
          <p:cNvSpPr/>
          <p:nvPr/>
        </p:nvSpPr>
        <p:spPr>
          <a:xfrm>
            <a:off x="2556904" y="3673115"/>
            <a:ext cx="395808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17"/>
              </a:lnSpc>
              <a:buNone/>
            </a:pPr>
            <a:r>
              <a:rPr lang="en-US" sz="800" spc="10" kern="0" dirty="0">
                <a:solidFill>
                  <a:srgbClr val="FCD34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DeepBook</a:t>
            </a:r>
            <a:endParaRPr lang="en-US" sz="800" dirty="0"/>
          </a:p>
        </p:txBody>
      </p:sp>
      <p:sp>
        <p:nvSpPr>
          <p:cNvPr id="72" name="Text 65"/>
          <p:cNvSpPr/>
          <p:nvPr/>
        </p:nvSpPr>
        <p:spPr>
          <a:xfrm>
            <a:off x="571500" y="3816883"/>
            <a:ext cx="2065772" cy="107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dirty="0">
                <a:solidFill>
                  <a:srgbClr val="E11D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</a:t>
            </a:r>
            <a:pPr algn="l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E11D4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920</a:t>
            </a:r>
            <a:endParaRPr lang="en-US" sz="800" dirty="0"/>
          </a:p>
        </p:txBody>
      </p:sp>
      <p:sp>
        <p:nvSpPr>
          <p:cNvPr id="73" name="Text 66"/>
          <p:cNvSpPr/>
          <p:nvPr/>
        </p:nvSpPr>
        <p:spPr>
          <a:xfrm>
            <a:off x="2651559" y="3816883"/>
            <a:ext cx="301154" cy="107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 </a:t>
            </a:r>
            <a:pPr algn="l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D948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945</a:t>
            </a:r>
            <a:endParaRPr lang="en-US" sz="800" dirty="0"/>
          </a:p>
        </p:txBody>
      </p:sp>
      <p:sp>
        <p:nvSpPr>
          <p:cNvPr id="74" name="Text 67"/>
          <p:cNvSpPr/>
          <p:nvPr/>
        </p:nvSpPr>
        <p:spPr>
          <a:xfrm>
            <a:off x="2572531" y="4343400"/>
            <a:ext cx="44447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23" kern="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 live →</a:t>
            </a:r>
            <a:endParaRPr lang="en-US" sz="800" dirty="0"/>
          </a:p>
        </p:txBody>
      </p:sp>
      <p:sp>
        <p:nvSpPr>
          <p:cNvPr id="75" name="Text 68"/>
          <p:cNvSpPr/>
          <p:nvPr/>
        </p:nvSpPr>
        <p:spPr>
          <a:xfrm>
            <a:off x="3213460" y="2891768"/>
            <a:ext cx="2716969" cy="1619510"/>
          </a:xfrm>
          <a:prstGeom prst="roundRect">
            <a:avLst>
              <a:gd name="adj" fmla="val 9410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69"/>
          <p:cNvSpPr/>
          <p:nvPr/>
        </p:nvSpPr>
        <p:spPr>
          <a:xfrm>
            <a:off x="3317044" y="2995352"/>
            <a:ext cx="14287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⚖️</a:t>
            </a:r>
            <a:endParaRPr lang="en-US" sz="900" dirty="0"/>
          </a:p>
        </p:txBody>
      </p:sp>
      <p:sp>
        <p:nvSpPr>
          <p:cNvPr id="77" name="Text 70"/>
          <p:cNvSpPr/>
          <p:nvPr/>
        </p:nvSpPr>
        <p:spPr>
          <a:xfrm>
            <a:off x="3517069" y="3011425"/>
            <a:ext cx="54835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DAO Jury</a:t>
            </a:r>
            <a:endParaRPr lang="en-US" sz="800" dirty="0"/>
          </a:p>
        </p:txBody>
      </p:sp>
      <p:sp>
        <p:nvSpPr>
          <p:cNvPr id="78" name="Text 71"/>
          <p:cNvSpPr/>
          <p:nvPr/>
        </p:nvSpPr>
        <p:spPr>
          <a:xfrm>
            <a:off x="5678801" y="3011068"/>
            <a:ext cx="159016" cy="140018"/>
          </a:xfrm>
          <a:prstGeom prst="roundRect">
            <a:avLst>
              <a:gd name="adj" fmla="val 6795894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2"/>
          <p:cNvSpPr/>
          <p:nvPr/>
        </p:nvSpPr>
        <p:spPr>
          <a:xfrm>
            <a:off x="5689774" y="3018569"/>
            <a:ext cx="137071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59"/>
              </a:lnSpc>
              <a:buNone/>
            </a:pPr>
            <a:r>
              <a:rPr lang="en-US" sz="800" spc="10" kern="0" dirty="0">
                <a:solidFill>
                  <a:srgbClr val="0F766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endParaRPr lang="en-US" sz="800" dirty="0"/>
          </a:p>
        </p:txBody>
      </p:sp>
      <p:sp>
        <p:nvSpPr>
          <p:cNvPr id="80" name="Text 73"/>
          <p:cNvSpPr/>
          <p:nvPr/>
        </p:nvSpPr>
        <p:spPr>
          <a:xfrm>
            <a:off x="3317044" y="3223952"/>
            <a:ext cx="2509800" cy="392906"/>
          </a:xfrm>
          <a:prstGeom prst="roundRect">
            <a:avLst>
              <a:gd name="adj" fmla="val 19394"/>
            </a:avLst>
          </a:prstGeom>
          <a:solidFill>
            <a:srgbClr val="FFF1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4"/>
          <p:cNvSpPr/>
          <p:nvPr/>
        </p:nvSpPr>
        <p:spPr>
          <a:xfrm>
            <a:off x="3381338" y="3280209"/>
            <a:ext cx="209546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Profit Q3 · Kopi Senja</a:t>
            </a:r>
            <a:endParaRPr lang="en-US" sz="800" dirty="0"/>
          </a:p>
        </p:txBody>
      </p:sp>
      <p:sp>
        <p:nvSpPr>
          <p:cNvPr id="82" name="Text 75"/>
          <p:cNvSpPr/>
          <p:nvPr/>
        </p:nvSpPr>
        <p:spPr>
          <a:xfrm>
            <a:off x="5491088" y="3266815"/>
            <a:ext cx="114300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👍</a:t>
            </a:r>
            <a:endParaRPr lang="en-US" sz="800" dirty="0"/>
          </a:p>
        </p:txBody>
      </p:sp>
      <p:sp>
        <p:nvSpPr>
          <p:cNvPr id="83" name="Text 76"/>
          <p:cNvSpPr/>
          <p:nvPr/>
        </p:nvSpPr>
        <p:spPr>
          <a:xfrm>
            <a:off x="5648251" y="3266815"/>
            <a:ext cx="114300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👎</a:t>
            </a:r>
            <a:endParaRPr lang="en-US" sz="800" dirty="0"/>
          </a:p>
        </p:txBody>
      </p:sp>
      <p:sp>
        <p:nvSpPr>
          <p:cNvPr id="84" name="Text 77"/>
          <p:cNvSpPr/>
          <p:nvPr/>
        </p:nvSpPr>
        <p:spPr>
          <a:xfrm>
            <a:off x="3381338" y="3434693"/>
            <a:ext cx="2381213" cy="21431"/>
          </a:xfrm>
          <a:prstGeom prst="roundRect">
            <a:avLst>
              <a:gd name="adj" fmla="val 88890"/>
            </a:avLst>
          </a:prstGeom>
          <a:solidFill>
            <a:srgbClr val="000000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78"/>
          <p:cNvSpPr/>
          <p:nvPr/>
        </p:nvSpPr>
        <p:spPr>
          <a:xfrm>
            <a:off x="3381338" y="3434693"/>
            <a:ext cx="1428638" cy="21431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79"/>
          <p:cNvSpPr/>
          <p:nvPr/>
        </p:nvSpPr>
        <p:spPr>
          <a:xfrm>
            <a:off x="3381338" y="3477555"/>
            <a:ext cx="2381213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9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3/5 approved</a:t>
            </a:r>
            <a:endParaRPr lang="en-US" sz="800" dirty="0"/>
          </a:p>
        </p:txBody>
      </p:sp>
      <p:sp>
        <p:nvSpPr>
          <p:cNvPr id="87" name="Text 80"/>
          <p:cNvSpPr/>
          <p:nvPr/>
        </p:nvSpPr>
        <p:spPr>
          <a:xfrm>
            <a:off x="3317044" y="3659721"/>
            <a:ext cx="2509800" cy="392906"/>
          </a:xfrm>
          <a:prstGeom prst="roundRect">
            <a:avLst>
              <a:gd name="adj" fmla="val 19394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1"/>
          <p:cNvSpPr/>
          <p:nvPr/>
        </p:nvSpPr>
        <p:spPr>
          <a:xfrm>
            <a:off x="3381338" y="3715978"/>
            <a:ext cx="209546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Profit Q3 · Batik Sari</a:t>
            </a:r>
            <a:endParaRPr lang="en-US" sz="800" dirty="0"/>
          </a:p>
        </p:txBody>
      </p:sp>
      <p:sp>
        <p:nvSpPr>
          <p:cNvPr id="89" name="Text 82"/>
          <p:cNvSpPr/>
          <p:nvPr/>
        </p:nvSpPr>
        <p:spPr>
          <a:xfrm>
            <a:off x="5491088" y="3702583"/>
            <a:ext cx="114300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👍</a:t>
            </a:r>
            <a:endParaRPr lang="en-US" sz="800" dirty="0"/>
          </a:p>
        </p:txBody>
      </p:sp>
      <p:sp>
        <p:nvSpPr>
          <p:cNvPr id="90" name="Text 83"/>
          <p:cNvSpPr/>
          <p:nvPr/>
        </p:nvSpPr>
        <p:spPr>
          <a:xfrm>
            <a:off x="5648251" y="3702583"/>
            <a:ext cx="114300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👎</a:t>
            </a:r>
            <a:endParaRPr lang="en-US" sz="800" dirty="0"/>
          </a:p>
        </p:txBody>
      </p:sp>
      <p:sp>
        <p:nvSpPr>
          <p:cNvPr id="91" name="Text 84"/>
          <p:cNvSpPr/>
          <p:nvPr/>
        </p:nvSpPr>
        <p:spPr>
          <a:xfrm>
            <a:off x="3381338" y="3870461"/>
            <a:ext cx="2381213" cy="21431"/>
          </a:xfrm>
          <a:prstGeom prst="roundRect">
            <a:avLst>
              <a:gd name="adj" fmla="val 88890"/>
            </a:avLst>
          </a:prstGeom>
          <a:solidFill>
            <a:srgbClr val="000000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Text 85"/>
          <p:cNvSpPr/>
          <p:nvPr/>
        </p:nvSpPr>
        <p:spPr>
          <a:xfrm>
            <a:off x="3381338" y="3870461"/>
            <a:ext cx="952463" cy="21431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Text 86"/>
          <p:cNvSpPr/>
          <p:nvPr/>
        </p:nvSpPr>
        <p:spPr>
          <a:xfrm>
            <a:off x="3381338" y="3913324"/>
            <a:ext cx="2381213" cy="96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9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2/5 approved</a:t>
            </a:r>
            <a:endParaRPr lang="en-US" sz="800" dirty="0"/>
          </a:p>
        </p:txBody>
      </p:sp>
      <p:sp>
        <p:nvSpPr>
          <p:cNvPr id="94" name="Text 87"/>
          <p:cNvSpPr/>
          <p:nvPr/>
        </p:nvSpPr>
        <p:spPr>
          <a:xfrm>
            <a:off x="5382369" y="4343400"/>
            <a:ext cx="44447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23" kern="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 live →</a:t>
            </a:r>
            <a:endParaRPr lang="en-US" sz="800" dirty="0"/>
          </a:p>
        </p:txBody>
      </p:sp>
      <p:sp>
        <p:nvSpPr>
          <p:cNvPr id="95" name="Text 88"/>
          <p:cNvSpPr/>
          <p:nvPr/>
        </p:nvSpPr>
        <p:spPr>
          <a:xfrm>
            <a:off x="6023297" y="2891768"/>
            <a:ext cx="2717081" cy="1619510"/>
          </a:xfrm>
          <a:prstGeom prst="roundRect">
            <a:avLst>
              <a:gd name="adj" fmla="val 9410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Text 89"/>
          <p:cNvSpPr/>
          <p:nvPr/>
        </p:nvSpPr>
        <p:spPr>
          <a:xfrm>
            <a:off x="6126882" y="2995352"/>
            <a:ext cx="14287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✨</a:t>
            </a:r>
            <a:endParaRPr lang="en-US" sz="900" dirty="0"/>
          </a:p>
        </p:txBody>
      </p:sp>
      <p:sp>
        <p:nvSpPr>
          <p:cNvPr id="97" name="Text 90"/>
          <p:cNvSpPr/>
          <p:nvPr/>
        </p:nvSpPr>
        <p:spPr>
          <a:xfrm>
            <a:off x="6326907" y="3011425"/>
            <a:ext cx="81029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Onboard MSME</a:t>
            </a:r>
            <a:endParaRPr lang="en-US" sz="800" dirty="0"/>
          </a:p>
        </p:txBody>
      </p:sp>
      <p:sp>
        <p:nvSpPr>
          <p:cNvPr id="98" name="Text 91"/>
          <p:cNvSpPr/>
          <p:nvPr/>
        </p:nvSpPr>
        <p:spPr>
          <a:xfrm>
            <a:off x="8488750" y="3011068"/>
            <a:ext cx="159016" cy="140018"/>
          </a:xfrm>
          <a:prstGeom prst="roundRect">
            <a:avLst>
              <a:gd name="adj" fmla="val 6795894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Text 92"/>
          <p:cNvSpPr/>
          <p:nvPr/>
        </p:nvSpPr>
        <p:spPr>
          <a:xfrm>
            <a:off x="8499723" y="3018569"/>
            <a:ext cx="137071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59"/>
              </a:lnSpc>
              <a:buNone/>
            </a:pPr>
            <a:r>
              <a:rPr lang="en-US" sz="800" spc="10" kern="0" dirty="0">
                <a:solidFill>
                  <a:srgbClr val="D9770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</a:t>
            </a:r>
            <a:endParaRPr lang="en-US" sz="800" dirty="0"/>
          </a:p>
        </p:txBody>
      </p:sp>
      <p:sp>
        <p:nvSpPr>
          <p:cNvPr id="100" name="Text 93"/>
          <p:cNvSpPr/>
          <p:nvPr/>
        </p:nvSpPr>
        <p:spPr>
          <a:xfrm>
            <a:off x="6159922" y="3223952"/>
            <a:ext cx="128588" cy="128588"/>
          </a:xfrm>
          <a:prstGeom prst="ellipse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Text 94"/>
          <p:cNvSpPr/>
          <p:nvPr/>
        </p:nvSpPr>
        <p:spPr>
          <a:xfrm>
            <a:off x="6170637" y="3234668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800" dirty="0"/>
          </a:p>
        </p:txBody>
      </p:sp>
      <p:sp>
        <p:nvSpPr>
          <p:cNvPr id="102" name="Text 95"/>
          <p:cNvSpPr/>
          <p:nvPr/>
        </p:nvSpPr>
        <p:spPr>
          <a:xfrm>
            <a:off x="6155457" y="3373971"/>
            <a:ext cx="21745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Deed</a:t>
            </a:r>
            <a:endParaRPr lang="en-US" sz="800" dirty="0"/>
          </a:p>
        </p:txBody>
      </p:sp>
      <p:sp>
        <p:nvSpPr>
          <p:cNvPr id="103" name="Text 96"/>
          <p:cNvSpPr/>
          <p:nvPr/>
        </p:nvSpPr>
        <p:spPr>
          <a:xfrm>
            <a:off x="6278798" y="3334680"/>
            <a:ext cx="639700" cy="14288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Text 97"/>
          <p:cNvSpPr/>
          <p:nvPr/>
        </p:nvSpPr>
        <p:spPr>
          <a:xfrm>
            <a:off x="6908676" y="3223952"/>
            <a:ext cx="128588" cy="128588"/>
          </a:xfrm>
          <a:prstGeom prst="ellipse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Text 98"/>
          <p:cNvSpPr/>
          <p:nvPr/>
        </p:nvSpPr>
        <p:spPr>
          <a:xfrm>
            <a:off x="6919392" y="3234668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800" dirty="0"/>
          </a:p>
        </p:txBody>
      </p:sp>
      <p:sp>
        <p:nvSpPr>
          <p:cNvPr id="106" name="Text 99"/>
          <p:cNvSpPr/>
          <p:nvPr/>
        </p:nvSpPr>
        <p:spPr>
          <a:xfrm>
            <a:off x="6904211" y="3373971"/>
            <a:ext cx="21745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NPWP</a:t>
            </a:r>
            <a:endParaRPr lang="en-US" sz="800" dirty="0"/>
          </a:p>
        </p:txBody>
      </p:sp>
      <p:sp>
        <p:nvSpPr>
          <p:cNvPr id="107" name="Text 100"/>
          <p:cNvSpPr/>
          <p:nvPr/>
        </p:nvSpPr>
        <p:spPr>
          <a:xfrm>
            <a:off x="7027552" y="3334680"/>
            <a:ext cx="639700" cy="14288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Text 101"/>
          <p:cNvSpPr/>
          <p:nvPr/>
        </p:nvSpPr>
        <p:spPr>
          <a:xfrm>
            <a:off x="7691921" y="3223952"/>
            <a:ext cx="128588" cy="128588"/>
          </a:xfrm>
          <a:prstGeom prst="ellipse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Text 102"/>
          <p:cNvSpPr/>
          <p:nvPr/>
        </p:nvSpPr>
        <p:spPr>
          <a:xfrm>
            <a:off x="7691921" y="3223952"/>
            <a:ext cx="128588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endParaRPr lang="en-US" sz="800" dirty="0"/>
          </a:p>
        </p:txBody>
      </p:sp>
      <p:sp>
        <p:nvSpPr>
          <p:cNvPr id="110" name="Text 103"/>
          <p:cNvSpPr/>
          <p:nvPr/>
        </p:nvSpPr>
        <p:spPr>
          <a:xfrm>
            <a:off x="7652965" y="3373971"/>
            <a:ext cx="26431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</a:t>
            </a:r>
            <a:endParaRPr lang="en-US" sz="800" dirty="0"/>
          </a:p>
        </p:txBody>
      </p:sp>
      <p:sp>
        <p:nvSpPr>
          <p:cNvPr id="111" name="Text 104"/>
          <p:cNvSpPr/>
          <p:nvPr/>
        </p:nvSpPr>
        <p:spPr>
          <a:xfrm>
            <a:off x="7845177" y="3334680"/>
            <a:ext cx="639700" cy="14288"/>
          </a:xfrm>
          <a:prstGeom prst="rect">
            <a:avLst/>
          </a:prstGeom>
          <a:solidFill>
            <a:srgbClr val="E5E0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Text 105"/>
          <p:cNvSpPr/>
          <p:nvPr/>
        </p:nvSpPr>
        <p:spPr>
          <a:xfrm>
            <a:off x="8478627" y="3227524"/>
            <a:ext cx="121444" cy="121444"/>
          </a:xfrm>
          <a:prstGeom prst="ellipse">
            <a:avLst/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Text 106"/>
          <p:cNvSpPr/>
          <p:nvPr/>
        </p:nvSpPr>
        <p:spPr>
          <a:xfrm>
            <a:off x="8475055" y="3223952"/>
            <a:ext cx="128588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800" dirty="0"/>
          </a:p>
        </p:txBody>
      </p:sp>
      <p:sp>
        <p:nvSpPr>
          <p:cNvPr id="114" name="Text 107"/>
          <p:cNvSpPr/>
          <p:nvPr/>
        </p:nvSpPr>
        <p:spPr>
          <a:xfrm>
            <a:off x="8470590" y="3373971"/>
            <a:ext cx="1662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A3A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Mint</a:t>
            </a:r>
            <a:endParaRPr lang="en-US" sz="800" dirty="0"/>
          </a:p>
        </p:txBody>
      </p:sp>
      <p:sp>
        <p:nvSpPr>
          <p:cNvPr id="115" name="Text 108"/>
          <p:cNvSpPr/>
          <p:nvPr/>
        </p:nvSpPr>
        <p:spPr>
          <a:xfrm>
            <a:off x="6126882" y="3516846"/>
            <a:ext cx="2509912" cy="201811"/>
          </a:xfrm>
          <a:prstGeom prst="roundRect">
            <a:avLst>
              <a:gd name="adj" fmla="val 37758"/>
            </a:avLst>
          </a:prstGeom>
          <a:solidFill>
            <a:srgbClr val="0A1F1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Text 109"/>
          <p:cNvSpPr/>
          <p:nvPr/>
        </p:nvSpPr>
        <p:spPr>
          <a:xfrm>
            <a:off x="6191176" y="3571317"/>
            <a:ext cx="92869" cy="928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14" dirty="0">
                <a:solidFill>
                  <a:srgbClr val="14B8A6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↑</a:t>
            </a:r>
            <a:endParaRPr lang="en-US" sz="914" dirty="0"/>
          </a:p>
        </p:txBody>
      </p:sp>
      <p:sp>
        <p:nvSpPr>
          <p:cNvPr id="117" name="Text 110"/>
          <p:cNvSpPr/>
          <p:nvPr/>
        </p:nvSpPr>
        <p:spPr>
          <a:xfrm>
            <a:off x="6326907" y="3566852"/>
            <a:ext cx="350681" cy="1017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dirty="0">
                <a:solidFill>
                  <a:srgbClr val="FAF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Walrus</a:t>
            </a:r>
            <a:endParaRPr lang="en-US" sz="800" dirty="0"/>
          </a:p>
        </p:txBody>
      </p:sp>
      <p:sp>
        <p:nvSpPr>
          <p:cNvPr id="118" name="Text 111"/>
          <p:cNvSpPr/>
          <p:nvPr/>
        </p:nvSpPr>
        <p:spPr>
          <a:xfrm>
            <a:off x="6615001" y="3569531"/>
            <a:ext cx="1957499" cy="99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9"/>
              </a:lnSpc>
              <a:buNone/>
            </a:pPr>
            <a:r>
              <a:rPr lang="en-US" sz="800" dirty="0">
                <a:solidFill>
                  <a:srgbClr val="FAFAF7">
                    <a:alpha val="6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blob_id: 0x…</a:t>
            </a:r>
            <a:endParaRPr lang="en-US" sz="800" dirty="0"/>
          </a:p>
        </p:txBody>
      </p:sp>
      <p:sp>
        <p:nvSpPr>
          <p:cNvPr id="119" name="Text 112"/>
          <p:cNvSpPr/>
          <p:nvPr/>
        </p:nvSpPr>
        <p:spPr>
          <a:xfrm>
            <a:off x="8192319" y="4343400"/>
            <a:ext cx="44447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23" kern="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 live →</a:t>
            </a:r>
            <a:endParaRPr lang="en-US" sz="800" dirty="0"/>
          </a:p>
        </p:txBody>
      </p:sp>
      <p:sp>
        <p:nvSpPr>
          <p:cNvPr id="120" name="Shape 113"/>
          <p:cNvSpPr/>
          <p:nvPr/>
        </p:nvSpPr>
        <p:spPr>
          <a:xfrm>
            <a:off x="400050" y="4604147"/>
            <a:ext cx="8343900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121" name="Text 114"/>
          <p:cNvSpPr/>
          <p:nvPr/>
        </p:nvSpPr>
        <p:spPr>
          <a:xfrm>
            <a:off x="400050" y="4722019"/>
            <a:ext cx="92869" cy="928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14" dirty="0">
                <a:solidFill>
                  <a:srgbClr val="73737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⌘</a:t>
            </a:r>
            <a:endParaRPr lang="en-US" sz="914" dirty="0"/>
          </a:p>
        </p:txBody>
      </p:sp>
      <p:sp>
        <p:nvSpPr>
          <p:cNvPr id="122" name="Text 115"/>
          <p:cNvSpPr/>
          <p:nvPr/>
        </p:nvSpPr>
        <p:spPr>
          <a:xfrm>
            <a:off x="550069" y="4709517"/>
            <a:ext cx="776285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URL:</a:t>
            </a:r>
            <a:endParaRPr lang="en-US" sz="800" dirty="0"/>
          </a:p>
        </p:txBody>
      </p:sp>
      <p:sp>
        <p:nvSpPr>
          <p:cNvPr id="123" name="Text 116"/>
          <p:cNvSpPr/>
          <p:nvPr/>
        </p:nvSpPr>
        <p:spPr>
          <a:xfrm>
            <a:off x="1269578" y="4709517"/>
            <a:ext cx="1175250" cy="148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preview-link.space-z.ai</a:t>
            </a:r>
            <a:endParaRPr lang="en-US" sz="800" dirty="0"/>
          </a:p>
        </p:txBody>
      </p:sp>
      <p:sp>
        <p:nvSpPr>
          <p:cNvPr id="124" name="Text 117"/>
          <p:cNvSpPr/>
          <p:nvPr/>
        </p:nvSpPr>
        <p:spPr>
          <a:xfrm>
            <a:off x="7404274" y="4679156"/>
            <a:ext cx="1339676" cy="178594"/>
          </a:xfrm>
          <a:prstGeom prst="roundRect">
            <a:avLst>
              <a:gd name="adj" fmla="val 5327993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Text 118"/>
          <p:cNvSpPr/>
          <p:nvPr/>
        </p:nvSpPr>
        <p:spPr>
          <a:xfrm>
            <a:off x="7611442" y="4729163"/>
            <a:ext cx="1132508" cy="120701"/>
          </a:xfrm>
          <a:prstGeom prst="rect">
            <a:avLst/>
          </a:prstGeom>
          <a:noFill/>
          <a:ln/>
        </p:spPr>
        <p:txBody>
          <a:bodyPr wrap="none" lIns="85725" tIns="35719" rIns="85725" bIns="35719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1" kern="0" dirty="0">
                <a:solidFill>
                  <a:srgbClr val="0F766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Wallet: Google zkLogin (auto)</a:t>
            </a:r>
            <a:endParaRPr lang="en-US" sz="800" dirty="0"/>
          </a:p>
        </p:txBody>
      </p:sp>
      <p:sp>
        <p:nvSpPr>
          <p:cNvPr id="126" name="Text 119"/>
          <p:cNvSpPr/>
          <p:nvPr/>
        </p:nvSpPr>
        <p:spPr>
          <a:xfrm>
            <a:off x="7489999" y="4729163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⎙</a:t>
            </a:r>
            <a:endParaRPr lang="en-US" sz="800" dirty="0"/>
          </a:p>
        </p:txBody>
      </p:sp>
      <p:sp>
        <p:nvSpPr>
          <p:cNvPr id="127" name="Text 120"/>
          <p:cNvSpPr/>
          <p:nvPr/>
        </p:nvSpPr>
        <p:spPr>
          <a:xfrm>
            <a:off x="457200" y="4854178"/>
            <a:ext cx="75593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Arthavest · Sui Overflow 2025</a:t>
            </a:r>
            <a:endParaRPr lang="en-US" sz="800" dirty="0"/>
          </a:p>
        </p:txBody>
      </p:sp>
      <p:sp>
        <p:nvSpPr>
          <p:cNvPr id="128" name="Text 121"/>
          <p:cNvSpPr/>
          <p:nvPr/>
        </p:nvSpPr>
        <p:spPr>
          <a:xfrm>
            <a:off x="8030803" y="4854178"/>
            <a:ext cx="78912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Slide 04 / 08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0050"/>
            <a:ext cx="711893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11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SUI ARCHITECTURE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603647"/>
            <a:ext cx="5429250" cy="6353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spc="-20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Six Sui powers in use — not a gimmick, a reason.</a:t>
            </a:r>
            <a:endParaRPr lang="en-US" sz="2025" dirty="0"/>
          </a:p>
        </p:txBody>
      </p:sp>
      <p:sp>
        <p:nvSpPr>
          <p:cNvPr id="4" name="Text 2"/>
          <p:cNvSpPr/>
          <p:nvPr/>
        </p:nvSpPr>
        <p:spPr>
          <a:xfrm>
            <a:off x="457200" y="1266453"/>
            <a:ext cx="5429250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Arthavest wouldn't be this clean on EVM. Every Sui feature used solves a concrete problem that no other chain can solve without major trade-offs.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901456" y="417266"/>
            <a:ext cx="808204" cy="212027"/>
          </a:xfrm>
          <a:prstGeom prst="roundRect">
            <a:avLst>
              <a:gd name="adj" fmla="val 4487860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145773" y="478631"/>
            <a:ext cx="455302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spc="12" kern="0" dirty="0">
                <a:solidFill>
                  <a:srgbClr val="0F766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SUI-NATIVE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10041" y="476845"/>
            <a:ext cx="92869" cy="928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14" dirty="0">
                <a:solidFill>
                  <a:srgbClr val="0F766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914" dirty="0"/>
          </a:p>
        </p:txBody>
      </p:sp>
      <p:sp>
        <p:nvSpPr>
          <p:cNvPr id="8" name="Text 6"/>
          <p:cNvSpPr/>
          <p:nvPr/>
        </p:nvSpPr>
        <p:spPr>
          <a:xfrm>
            <a:off x="7757443" y="646509"/>
            <a:ext cx="112351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30" kern="0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 / 6 FEATURES USED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60772" y="1722760"/>
            <a:ext cx="2659819" cy="1235087"/>
          </a:xfrm>
          <a:prstGeom prst="roundRect">
            <a:avLst>
              <a:gd name="adj" fmla="val 12339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92931" y="1854919"/>
            <a:ext cx="285750" cy="285750"/>
          </a:xfrm>
          <a:prstGeom prst="roundRect">
            <a:avLst>
              <a:gd name="adj" fmla="val 33333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21863" y="1883852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0D94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▢</a:t>
            </a:r>
            <a:endParaRPr lang="en-US" sz="1547" dirty="0"/>
          </a:p>
        </p:txBody>
      </p:sp>
      <p:sp>
        <p:nvSpPr>
          <p:cNvPr id="12" name="Text 10"/>
          <p:cNvSpPr/>
          <p:nvPr/>
        </p:nvSpPr>
        <p:spPr>
          <a:xfrm>
            <a:off x="964406" y="1926357"/>
            <a:ext cx="202402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Object-Centric Model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2931" y="2197819"/>
            <a:ext cx="2395500" cy="431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MSME, share, and stream is a Move object with a unique ID. Direct ownership without registry mapping.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6503" y="2660377"/>
            <a:ext cx="2388357" cy="176026"/>
          </a:xfrm>
          <a:prstGeom prst="roundRect">
            <a:avLst>
              <a:gd name="adj" fmla="val 43289"/>
            </a:avLst>
          </a:prstGeom>
          <a:solidFill>
            <a:srgbClr val="FAF6EC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92931" y="2656805"/>
            <a:ext cx="2395500" cy="183170"/>
          </a:xfrm>
          <a:prstGeom prst="rect">
            <a:avLst/>
          </a:prstGeom>
          <a:noFill/>
          <a:ln/>
        </p:spPr>
        <p:txBody>
          <a:bodyPr wrap="square" lIns="57150" tIns="35719" rIns="57150" bIns="35719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 in: MSME NFT · Share token · Stream object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242035" y="1722760"/>
            <a:ext cx="2659819" cy="1235087"/>
          </a:xfrm>
          <a:prstGeom prst="roundRect">
            <a:avLst>
              <a:gd name="adj" fmla="val 12339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374194" y="1854919"/>
            <a:ext cx="285750" cy="285750"/>
          </a:xfrm>
          <a:prstGeom prst="roundRect">
            <a:avLst>
              <a:gd name="adj" fmla="val 33333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403126" y="1883852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D97706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1547" dirty="0"/>
          </a:p>
        </p:txBody>
      </p:sp>
      <p:sp>
        <p:nvSpPr>
          <p:cNvPr id="19" name="Text 17"/>
          <p:cNvSpPr/>
          <p:nvPr/>
        </p:nvSpPr>
        <p:spPr>
          <a:xfrm>
            <a:off x="3745669" y="1926357"/>
            <a:ext cx="203067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Programmable Transaction Blocks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74194" y="2197819"/>
            <a:ext cx="2395500" cy="3341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Profit distribution to hundreds of investors executes in 1 atomic tx. No partial failure window.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377766" y="2562932"/>
            <a:ext cx="2388357" cy="273472"/>
          </a:xfrm>
          <a:prstGeom prst="roundRect">
            <a:avLst>
              <a:gd name="adj" fmla="val 27864"/>
            </a:avLst>
          </a:prstGeom>
          <a:solidFill>
            <a:srgbClr val="FAF6EC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374194" y="2559360"/>
            <a:ext cx="2395500" cy="280615"/>
          </a:xfrm>
          <a:prstGeom prst="rect">
            <a:avLst/>
          </a:prstGeom>
          <a:noFill/>
          <a:ln/>
        </p:spPr>
        <p:txBody>
          <a:bodyPr wrap="square" lIns="57150" tIns="35719" rIns="57150" bIns="35719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 in: Bulk profit distribution · Buy + mint receipt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23297" y="1722760"/>
            <a:ext cx="2659931" cy="1235087"/>
          </a:xfrm>
          <a:prstGeom prst="roundRect">
            <a:avLst>
              <a:gd name="adj" fmla="val 12339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155457" y="1854919"/>
            <a:ext cx="285750" cy="285750"/>
          </a:xfrm>
          <a:prstGeom prst="roundRect">
            <a:avLst>
              <a:gd name="adj" fmla="val 33333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184389" y="1883852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0D94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⎙</a:t>
            </a:r>
            <a:endParaRPr lang="en-US" sz="1547" dirty="0"/>
          </a:p>
        </p:txBody>
      </p:sp>
      <p:sp>
        <p:nvSpPr>
          <p:cNvPr id="26" name="Text 24"/>
          <p:cNvSpPr/>
          <p:nvPr/>
        </p:nvSpPr>
        <p:spPr>
          <a:xfrm>
            <a:off x="6526932" y="1926357"/>
            <a:ext cx="202413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zkLogin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55457" y="2197819"/>
            <a:ext cx="2395612" cy="431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New investors log in with Google/Twitch — no wallet install or seed phrase backup. Zero-knowledge proof protects privacy.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159029" y="2660377"/>
            <a:ext cx="2388468" cy="176026"/>
          </a:xfrm>
          <a:prstGeom prst="roundRect">
            <a:avLst>
              <a:gd name="adj" fmla="val 43289"/>
            </a:avLst>
          </a:prstGeom>
          <a:solidFill>
            <a:srgbClr val="FAF6EC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155457" y="2656805"/>
            <a:ext cx="2395612" cy="183170"/>
          </a:xfrm>
          <a:prstGeom prst="rect">
            <a:avLst/>
          </a:prstGeom>
          <a:noFill/>
          <a:ln/>
        </p:spPr>
        <p:txBody>
          <a:bodyPr wrap="square" lIns="57150" tIns="35719" rIns="57150" bIns="35719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 in: Investor &amp; MSME onboarding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60772" y="3079291"/>
            <a:ext cx="2659819" cy="1332533"/>
          </a:xfrm>
          <a:prstGeom prst="roundRect">
            <a:avLst>
              <a:gd name="adj" fmla="val 11437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92931" y="3211450"/>
            <a:ext cx="285750" cy="285750"/>
          </a:xfrm>
          <a:prstGeom prst="roundRect">
            <a:avLst>
              <a:gd name="adj" fmla="val 33333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21863" y="3240383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D97706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◆</a:t>
            </a:r>
            <a:endParaRPr lang="en-US" sz="1547" dirty="0"/>
          </a:p>
        </p:txBody>
      </p:sp>
      <p:sp>
        <p:nvSpPr>
          <p:cNvPr id="33" name="Text 31"/>
          <p:cNvSpPr/>
          <p:nvPr/>
        </p:nvSpPr>
        <p:spPr>
          <a:xfrm>
            <a:off x="964406" y="3282888"/>
            <a:ext cx="202402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Sponsored Transactions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92931" y="3554350"/>
            <a:ext cx="2395500" cy="528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Investor's first transaction is sponsored by the platform. Users don't need SUI to start — zero gas barrier.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96503" y="4114354"/>
            <a:ext cx="2388357" cy="176026"/>
          </a:xfrm>
          <a:prstGeom prst="roundRect">
            <a:avLst>
              <a:gd name="adj" fmla="val 43289"/>
            </a:avLst>
          </a:prstGeom>
          <a:solidFill>
            <a:srgbClr val="FAF6EC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92931" y="4110782"/>
            <a:ext cx="2395500" cy="183170"/>
          </a:xfrm>
          <a:prstGeom prst="rect">
            <a:avLst/>
          </a:prstGeom>
          <a:noFill/>
          <a:ln/>
        </p:spPr>
        <p:txBody>
          <a:bodyPr wrap="square" lIns="57150" tIns="35719" rIns="57150" bIns="35719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 in: First-time buy &amp; withdraw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242035" y="3079291"/>
            <a:ext cx="2659819" cy="1332533"/>
          </a:xfrm>
          <a:prstGeom prst="roundRect">
            <a:avLst>
              <a:gd name="adj" fmla="val 11437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374194" y="3211450"/>
            <a:ext cx="285750" cy="285750"/>
          </a:xfrm>
          <a:prstGeom prst="roundRect">
            <a:avLst>
              <a:gd name="adj" fmla="val 33333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403126" y="3240383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0D94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547" dirty="0"/>
          </a:p>
        </p:txBody>
      </p:sp>
      <p:sp>
        <p:nvSpPr>
          <p:cNvPr id="40" name="Text 38"/>
          <p:cNvSpPr/>
          <p:nvPr/>
        </p:nvSpPr>
        <p:spPr>
          <a:xfrm>
            <a:off x="3745669" y="3282888"/>
            <a:ext cx="202402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Walrus Storage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374194" y="3554350"/>
            <a:ext cx="2395500" cy="431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MSME legal documents (Akta, NPWP, financial reports) stored permanently on Walrus with on-chain blob ID. Immutable audit trail.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377766" y="4016908"/>
            <a:ext cx="2388357" cy="273472"/>
          </a:xfrm>
          <a:prstGeom prst="roundRect">
            <a:avLst>
              <a:gd name="adj" fmla="val 27864"/>
            </a:avLst>
          </a:prstGeom>
          <a:solidFill>
            <a:srgbClr val="FAF6EC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374194" y="4013336"/>
            <a:ext cx="2395500" cy="280615"/>
          </a:xfrm>
          <a:prstGeom prst="rect">
            <a:avLst/>
          </a:prstGeom>
          <a:noFill/>
          <a:ln/>
        </p:spPr>
        <p:txBody>
          <a:bodyPr wrap="square" lIns="57150" tIns="35719" rIns="57150" bIns="35719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 in: MSME document verification · DAO jury proof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023297" y="3079291"/>
            <a:ext cx="2659931" cy="1332533"/>
          </a:xfrm>
          <a:prstGeom prst="roundRect">
            <a:avLst>
              <a:gd name="adj" fmla="val 11437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155457" y="3211450"/>
            <a:ext cx="285750" cy="285750"/>
          </a:xfrm>
          <a:prstGeom prst="roundRect">
            <a:avLst>
              <a:gd name="adj" fmla="val 33333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184389" y="3240383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D97706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547" dirty="0"/>
          </a:p>
        </p:txBody>
      </p:sp>
      <p:sp>
        <p:nvSpPr>
          <p:cNvPr id="47" name="Text 45"/>
          <p:cNvSpPr/>
          <p:nvPr/>
        </p:nvSpPr>
        <p:spPr>
          <a:xfrm>
            <a:off x="6526932" y="3282888"/>
            <a:ext cx="202413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DeepBook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155457" y="3554350"/>
            <a:ext cx="2395612" cy="528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Listed MSME shares can trade on secondary market via DeepBook central limit orderbook. Liquidity without exit window.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159029" y="4114354"/>
            <a:ext cx="2388468" cy="176026"/>
          </a:xfrm>
          <a:prstGeom prst="roundRect">
            <a:avLst>
              <a:gd name="adj" fmla="val 43289"/>
            </a:avLst>
          </a:prstGeom>
          <a:solidFill>
            <a:srgbClr val="FAF6EC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155457" y="4110782"/>
            <a:ext cx="2395612" cy="183170"/>
          </a:xfrm>
          <a:prstGeom prst="rect">
            <a:avLst/>
          </a:prstGeom>
          <a:noFill/>
          <a:ln/>
        </p:spPr>
        <p:txBody>
          <a:bodyPr wrap="square" lIns="57150" tIns="35719" rIns="57150" bIns="35719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 in: Secondary market (live demo)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7200" y="4854178"/>
            <a:ext cx="75593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Arthavest · Sui Overflow 2025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030803" y="4854178"/>
            <a:ext cx="78912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Slide 05 / 08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0050"/>
            <a:ext cx="711893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11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MARKET &amp; MOMENTUM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603647"/>
            <a:ext cx="5429250" cy="588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9"/>
              </a:lnSpc>
              <a:buNone/>
            </a:pPr>
            <a:r>
              <a:rPr lang="en-US" sz="1913" b="1" spc="-19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RWA + Indonesian MSMEs — a billion-dollar neglected market.</a:t>
            </a:r>
            <a:endParaRPr lang="en-US" sz="1913" dirty="0"/>
          </a:p>
        </p:txBody>
      </p:sp>
      <p:sp>
        <p:nvSpPr>
          <p:cNvPr id="4" name="Text 2"/>
          <p:cNvSpPr/>
          <p:nvPr/>
        </p:nvSpPr>
        <p:spPr>
          <a:xfrm>
            <a:off x="457200" y="1219349"/>
            <a:ext cx="5429250" cy="340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7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Indonesia has 280M population with high crypto adoption (rank 7 globally), but RWA penetration is still &lt; 0.1%. Arthavest is the bridge between traditional MSMEs and young crypto-native investors.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335649" y="417266"/>
            <a:ext cx="1374011" cy="212027"/>
          </a:xfrm>
          <a:prstGeom prst="roundRect">
            <a:avLst>
              <a:gd name="adj" fmla="val 4487860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579965" y="478631"/>
            <a:ext cx="102111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spc="12" kern="0" dirty="0">
                <a:solidFill>
                  <a:srgbClr val="D9770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GLOBAL CRYPTO RANK 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444234" y="476845"/>
            <a:ext cx="92869" cy="928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14" dirty="0">
                <a:solidFill>
                  <a:srgbClr val="D97706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914" dirty="0"/>
          </a:p>
        </p:txBody>
      </p:sp>
      <p:sp>
        <p:nvSpPr>
          <p:cNvPr id="8" name="Text 6"/>
          <p:cNvSpPr/>
          <p:nvPr/>
        </p:nvSpPr>
        <p:spPr>
          <a:xfrm>
            <a:off x="6779307" y="646509"/>
            <a:ext cx="20600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30" kern="0" dirty="0">
                <a:solidFill>
                  <a:srgbClr val="A3A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280M POPULATION · 1.8M CRYPTO INVESTORS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60772" y="1650429"/>
            <a:ext cx="8222456" cy="1278731"/>
          </a:xfrm>
          <a:prstGeom prst="roundRect">
            <a:avLst>
              <a:gd name="adj" fmla="val 10428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92931" y="1768301"/>
            <a:ext cx="726642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54" kern="0" dirty="0">
                <a:solidFill>
                  <a:srgbClr val="73737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MARKET SIZE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873640" y="1776338"/>
            <a:ext cx="6774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A3A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 → SAM → SOM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92931" y="2025476"/>
            <a:ext cx="640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54" kern="0" dirty="0">
                <a:solidFill>
                  <a:srgbClr val="7373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92994" y="1968326"/>
            <a:ext cx="7458075" cy="242888"/>
          </a:xfrm>
          <a:prstGeom prst="roundRect">
            <a:avLst>
              <a:gd name="adj" fmla="val 31372"/>
            </a:avLst>
          </a:prstGeom>
          <a:solidFill>
            <a:srgbClr val="F3EC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94" y="1968326"/>
            <a:ext cx="7458075" cy="24288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193006" y="2038648"/>
            <a:ext cx="6286165" cy="120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Global RWA tokenization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522034" y="2025476"/>
            <a:ext cx="92902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FFFFFF">
                    <a:alpha val="9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$16T by 2030 (BCG)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592931" y="2325514"/>
            <a:ext cx="640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54" kern="0" dirty="0">
                <a:solidFill>
                  <a:srgbClr val="7373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92994" y="2268364"/>
            <a:ext cx="7458075" cy="242888"/>
          </a:xfrm>
          <a:prstGeom prst="roundRect">
            <a:avLst>
              <a:gd name="adj" fmla="val 31372"/>
            </a:avLst>
          </a:prstGeom>
          <a:solidFill>
            <a:srgbClr val="F3EC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994" y="2268364"/>
            <a:ext cx="5593556" cy="24288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193006" y="2338685"/>
            <a:ext cx="4369966" cy="120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Indonesia MSMEs + retail investors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5605835" y="2325514"/>
            <a:ext cx="98070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FFFFFF">
                    <a:alpha val="9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Rp 1.2Q funding gap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592931" y="2625551"/>
            <a:ext cx="640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54" kern="0" dirty="0">
                <a:solidFill>
                  <a:srgbClr val="7373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1092994" y="2568401"/>
            <a:ext cx="7458075" cy="242888"/>
          </a:xfrm>
          <a:prstGeom prst="roundRect">
            <a:avLst>
              <a:gd name="adj" fmla="val 31372"/>
            </a:avLst>
          </a:prstGeom>
          <a:solidFill>
            <a:srgbClr val="F3EC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994" y="2568401"/>
            <a:ext cx="1864519" cy="242888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193006" y="2638723"/>
            <a:ext cx="800184" cy="120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Year 1-2 target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1928478" y="2625551"/>
            <a:ext cx="92902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FFFFFF">
                    <a:alpha val="9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Rp 50M / 500 MSMEs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460772" y="3036317"/>
            <a:ext cx="1985963" cy="889620"/>
          </a:xfrm>
          <a:prstGeom prst="roundRect">
            <a:avLst>
              <a:gd name="adj" fmla="val 17131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3"/>
          <p:cNvSpPr/>
          <p:nvPr/>
        </p:nvSpPr>
        <p:spPr>
          <a:xfrm>
            <a:off x="578644" y="3154189"/>
            <a:ext cx="1750219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688" b="1" dirty="0">
                <a:solidFill>
                  <a:srgbClr val="1A1A1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</a:t>
            </a:r>
            <a:endParaRPr lang="en-US" sz="1688" dirty="0"/>
          </a:p>
        </p:txBody>
      </p:sp>
      <p:sp>
        <p:nvSpPr>
          <p:cNvPr id="29" name="Text 24"/>
          <p:cNvSpPr/>
          <p:nvPr/>
        </p:nvSpPr>
        <p:spPr>
          <a:xfrm>
            <a:off x="578644" y="3425651"/>
            <a:ext cx="1750219" cy="1350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Demo MSMEs onboarded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578644" y="3588172"/>
            <a:ext cx="1750219" cy="153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6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spans culinary, coffee, laundry, crafts, agriculture</a:t>
            </a:r>
            <a:endParaRPr lang="en-US" sz="800" dirty="0"/>
          </a:p>
        </p:txBody>
      </p:sp>
      <p:sp>
        <p:nvSpPr>
          <p:cNvPr id="31" name="Text 26"/>
          <p:cNvSpPr/>
          <p:nvPr/>
        </p:nvSpPr>
        <p:spPr>
          <a:xfrm>
            <a:off x="2539603" y="3036317"/>
            <a:ext cx="1985963" cy="889620"/>
          </a:xfrm>
          <a:prstGeom prst="roundRect">
            <a:avLst>
              <a:gd name="adj" fmla="val 17131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7"/>
          <p:cNvSpPr/>
          <p:nvPr/>
        </p:nvSpPr>
        <p:spPr>
          <a:xfrm>
            <a:off x="2657475" y="3154189"/>
            <a:ext cx="1750219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688" b="1" dirty="0">
                <a:solidFill>
                  <a:srgbClr val="D9770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1688" dirty="0"/>
          </a:p>
        </p:txBody>
      </p:sp>
      <p:sp>
        <p:nvSpPr>
          <p:cNvPr id="33" name="Text 28"/>
          <p:cNvSpPr/>
          <p:nvPr/>
        </p:nvSpPr>
        <p:spPr>
          <a:xfrm>
            <a:off x="2657475" y="3425651"/>
            <a:ext cx="1855232" cy="135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Sui features actively used</a:t>
            </a:r>
            <a:endParaRPr lang="en-US" sz="800" dirty="0"/>
          </a:p>
        </p:txBody>
      </p:sp>
      <p:sp>
        <p:nvSpPr>
          <p:cNvPr id="34" name="Text 29"/>
          <p:cNvSpPr/>
          <p:nvPr/>
        </p:nvSpPr>
        <p:spPr>
          <a:xfrm>
            <a:off x="2657475" y="3588172"/>
            <a:ext cx="1750219" cy="219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6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object, PTB, zkLogin, sponsored, Walrus, DeepBook</a:t>
            </a:r>
            <a:endParaRPr lang="en-US" sz="800" dirty="0"/>
          </a:p>
        </p:txBody>
      </p:sp>
      <p:sp>
        <p:nvSpPr>
          <p:cNvPr id="35" name="Text 30"/>
          <p:cNvSpPr/>
          <p:nvPr/>
        </p:nvSpPr>
        <p:spPr>
          <a:xfrm>
            <a:off x="4618434" y="3036317"/>
            <a:ext cx="1985963" cy="889620"/>
          </a:xfrm>
          <a:prstGeom prst="roundRect">
            <a:avLst>
              <a:gd name="adj" fmla="val 17131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1"/>
          <p:cNvSpPr/>
          <p:nvPr/>
        </p:nvSpPr>
        <p:spPr>
          <a:xfrm>
            <a:off x="4736306" y="3154189"/>
            <a:ext cx="1750219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688" b="1" dirty="0">
                <a:solidFill>
                  <a:srgbClr val="1A1A1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~800ms</a:t>
            </a:r>
            <a:endParaRPr lang="en-US" sz="1688" dirty="0"/>
          </a:p>
        </p:txBody>
      </p:sp>
      <p:sp>
        <p:nvSpPr>
          <p:cNvPr id="37" name="Text 32"/>
          <p:cNvSpPr/>
          <p:nvPr/>
        </p:nvSpPr>
        <p:spPr>
          <a:xfrm>
            <a:off x="4736306" y="3425651"/>
            <a:ext cx="1750219" cy="1350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PTB finality on testnet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4736306" y="3588172"/>
            <a:ext cx="1855232" cy="153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6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atomic distribution to 152 investors</a:t>
            </a:r>
            <a:endParaRPr lang="en-US" sz="800" dirty="0"/>
          </a:p>
        </p:txBody>
      </p:sp>
      <p:sp>
        <p:nvSpPr>
          <p:cNvPr id="39" name="Text 34"/>
          <p:cNvSpPr/>
          <p:nvPr/>
        </p:nvSpPr>
        <p:spPr>
          <a:xfrm>
            <a:off x="6697266" y="3036317"/>
            <a:ext cx="1985963" cy="889620"/>
          </a:xfrm>
          <a:prstGeom prst="roundRect">
            <a:avLst>
              <a:gd name="adj" fmla="val 17131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5"/>
          <p:cNvSpPr/>
          <p:nvPr/>
        </p:nvSpPr>
        <p:spPr>
          <a:xfrm>
            <a:off x="6815138" y="3154189"/>
            <a:ext cx="1750219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688" b="1" dirty="0">
                <a:solidFill>
                  <a:srgbClr val="D9770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0.03 SUI</a:t>
            </a:r>
            <a:endParaRPr lang="en-US" sz="1688" dirty="0"/>
          </a:p>
        </p:txBody>
      </p:sp>
      <p:sp>
        <p:nvSpPr>
          <p:cNvPr id="41" name="Text 36"/>
          <p:cNvSpPr/>
          <p:nvPr/>
        </p:nvSpPr>
        <p:spPr>
          <a:xfrm>
            <a:off x="6815138" y="3425651"/>
            <a:ext cx="1750219" cy="1350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distribution gas cost</a:t>
            </a:r>
            <a:endParaRPr lang="en-US" sz="800" dirty="0"/>
          </a:p>
        </p:txBody>
      </p:sp>
      <p:sp>
        <p:nvSpPr>
          <p:cNvPr id="42" name="Text 37"/>
          <p:cNvSpPr/>
          <p:nvPr/>
        </p:nvSpPr>
        <p:spPr>
          <a:xfrm>
            <a:off x="6815138" y="3588172"/>
            <a:ext cx="1750219" cy="1535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6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vs $4-12 on Ethereum L1</a:t>
            </a:r>
            <a:endParaRPr lang="en-US" sz="800" dirty="0"/>
          </a:p>
        </p:txBody>
      </p:sp>
      <p:sp>
        <p:nvSpPr>
          <p:cNvPr id="43" name="Text 38"/>
          <p:cNvSpPr/>
          <p:nvPr/>
        </p:nvSpPr>
        <p:spPr>
          <a:xfrm>
            <a:off x="457200" y="4015234"/>
            <a:ext cx="1928701" cy="189309"/>
          </a:xfrm>
          <a:prstGeom prst="roundRect">
            <a:avLst>
              <a:gd name="adj" fmla="val 5026425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39"/>
          <p:cNvSpPr/>
          <p:nvPr/>
        </p:nvSpPr>
        <p:spPr>
          <a:xfrm>
            <a:off x="678656" y="4065240"/>
            <a:ext cx="1735820" cy="119703"/>
          </a:xfrm>
          <a:prstGeom prst="rect">
            <a:avLst/>
          </a:prstGeom>
          <a:noFill/>
          <a:ln/>
        </p:spPr>
        <p:txBody>
          <a:bodyPr wrap="none" lIns="85725" tIns="35719" rIns="85725" bIns="35719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2" kern="0" dirty="0">
                <a:solidFill>
                  <a:srgbClr val="0F766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Top 10 global crypto adoption (Indonesia)</a:t>
            </a:r>
            <a:endParaRPr lang="en-US" sz="800" dirty="0"/>
          </a:p>
        </p:txBody>
      </p:sp>
      <p:sp>
        <p:nvSpPr>
          <p:cNvPr id="45" name="Text 40"/>
          <p:cNvSpPr/>
          <p:nvPr/>
        </p:nvSpPr>
        <p:spPr>
          <a:xfrm>
            <a:off x="542925" y="4063454"/>
            <a:ext cx="92869" cy="928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14" dirty="0">
                <a:solidFill>
                  <a:srgbClr val="0F766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◯</a:t>
            </a:r>
            <a:endParaRPr lang="en-US" sz="914" dirty="0"/>
          </a:p>
        </p:txBody>
      </p:sp>
      <p:sp>
        <p:nvSpPr>
          <p:cNvPr id="46" name="Text 41"/>
          <p:cNvSpPr/>
          <p:nvPr/>
        </p:nvSpPr>
        <p:spPr>
          <a:xfrm>
            <a:off x="2443051" y="4015234"/>
            <a:ext cx="1904479" cy="189309"/>
          </a:xfrm>
          <a:prstGeom prst="roundRect">
            <a:avLst>
              <a:gd name="adj" fmla="val 5026425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2"/>
          <p:cNvSpPr/>
          <p:nvPr/>
        </p:nvSpPr>
        <p:spPr>
          <a:xfrm>
            <a:off x="2664507" y="4065240"/>
            <a:ext cx="1711598" cy="119703"/>
          </a:xfrm>
          <a:prstGeom prst="rect">
            <a:avLst/>
          </a:prstGeom>
          <a:noFill/>
          <a:ln/>
        </p:spPr>
        <p:txBody>
          <a:bodyPr wrap="none" lIns="85725" tIns="35719" rIns="85725" bIns="35719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2" kern="0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1.8M active crypto investors in Indonesia</a:t>
            </a:r>
            <a:endParaRPr lang="en-US" sz="800" dirty="0"/>
          </a:p>
        </p:txBody>
      </p:sp>
      <p:sp>
        <p:nvSpPr>
          <p:cNvPr id="48" name="Text 43"/>
          <p:cNvSpPr/>
          <p:nvPr/>
        </p:nvSpPr>
        <p:spPr>
          <a:xfrm>
            <a:off x="2528776" y="4063454"/>
            <a:ext cx="92869" cy="928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14" dirty="0">
                <a:solidFill>
                  <a:srgbClr val="D97706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14" dirty="0"/>
          </a:p>
        </p:txBody>
      </p:sp>
      <p:sp>
        <p:nvSpPr>
          <p:cNvPr id="49" name="Text 44"/>
          <p:cNvSpPr/>
          <p:nvPr/>
        </p:nvSpPr>
        <p:spPr>
          <a:xfrm>
            <a:off x="4404680" y="4015234"/>
            <a:ext cx="1628440" cy="189309"/>
          </a:xfrm>
          <a:prstGeom prst="roundRect">
            <a:avLst>
              <a:gd name="adj" fmla="val 5026425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5"/>
          <p:cNvSpPr/>
          <p:nvPr/>
        </p:nvSpPr>
        <p:spPr>
          <a:xfrm>
            <a:off x="4626136" y="4065240"/>
            <a:ext cx="4060664" cy="119703"/>
          </a:xfrm>
          <a:prstGeom prst="rect">
            <a:avLst/>
          </a:prstGeom>
          <a:noFill/>
          <a:ln/>
        </p:spPr>
        <p:txBody>
          <a:bodyPr wrap="none" lIns="85725" tIns="35719" rIns="85725" bIns="35719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2" kern="0" dirty="0">
                <a:solidFill>
                  <a:srgbClr val="0F766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500 MSME target pipeline Q1 2026</a:t>
            </a:r>
            <a:endParaRPr lang="en-US" sz="800" dirty="0"/>
          </a:p>
        </p:txBody>
      </p:sp>
      <p:sp>
        <p:nvSpPr>
          <p:cNvPr id="51" name="Text 46"/>
          <p:cNvSpPr/>
          <p:nvPr/>
        </p:nvSpPr>
        <p:spPr>
          <a:xfrm>
            <a:off x="4490405" y="4063454"/>
            <a:ext cx="92869" cy="928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14" dirty="0">
                <a:solidFill>
                  <a:srgbClr val="0F766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914" dirty="0"/>
          </a:p>
        </p:txBody>
      </p:sp>
      <p:sp>
        <p:nvSpPr>
          <p:cNvPr id="52" name="Text 47"/>
          <p:cNvSpPr/>
          <p:nvPr/>
        </p:nvSpPr>
        <p:spPr>
          <a:xfrm>
            <a:off x="457200" y="4854178"/>
            <a:ext cx="75593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Arthavest · Sui Overflow 2025</a:t>
            </a:r>
            <a:endParaRPr lang="en-US" sz="800" dirty="0"/>
          </a:p>
        </p:txBody>
      </p:sp>
      <p:sp>
        <p:nvSpPr>
          <p:cNvPr id="53" name="Text 48"/>
          <p:cNvSpPr/>
          <p:nvPr/>
        </p:nvSpPr>
        <p:spPr>
          <a:xfrm>
            <a:off x="8030803" y="4854178"/>
            <a:ext cx="78912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Slide 06 / 08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0050"/>
            <a:ext cx="770529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11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603647"/>
            <a:ext cx="542925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spc="-20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From this hackathon to mainnet in 6 months.</a:t>
            </a:r>
            <a:endParaRPr lang="en-US" sz="2025" dirty="0"/>
          </a:p>
        </p:txBody>
      </p:sp>
      <p:sp>
        <p:nvSpPr>
          <p:cNvPr id="4" name="Text 2"/>
          <p:cNvSpPr/>
          <p:nvPr/>
        </p:nvSpPr>
        <p:spPr>
          <a:xfrm>
            <a:off x="457200" y="956481"/>
            <a:ext cx="5429250" cy="340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7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Arthavest already has a complete MVP with 5 flows. After Sui Overflow, we deploy to public testnet, onboard MSME pilots, then mainnet with active DAO jury.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411440" y="417266"/>
            <a:ext cx="1298220" cy="212027"/>
          </a:xfrm>
          <a:prstGeom prst="roundRect">
            <a:avLst>
              <a:gd name="adj" fmla="val 4487860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655756" y="478631"/>
            <a:ext cx="945319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spc="12" kern="0" dirty="0">
                <a:solidFill>
                  <a:srgbClr val="0F766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 MONTHS TO MAINNET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520025" y="476845"/>
            <a:ext cx="92869" cy="928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14" dirty="0">
                <a:solidFill>
                  <a:srgbClr val="0F766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➤</a:t>
            </a:r>
            <a:endParaRPr lang="en-US" sz="914" dirty="0"/>
          </a:p>
        </p:txBody>
      </p:sp>
      <p:sp>
        <p:nvSpPr>
          <p:cNvPr id="8" name="Text 6"/>
          <p:cNvSpPr/>
          <p:nvPr/>
        </p:nvSpPr>
        <p:spPr>
          <a:xfrm>
            <a:off x="7855223" y="646509"/>
            <a:ext cx="100530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30" kern="0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Q3 2025 → Q2 2026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86371" y="1491146"/>
            <a:ext cx="7571259" cy="0"/>
          </a:xfrm>
          <a:prstGeom prst="line">
            <a:avLst/>
          </a:prstGeom>
          <a:noFill/>
          <a:ln w="14288">
            <a:solidFill>
              <a:srgbClr val="0D9488"/>
            </a:solidFill>
            <a:prstDash val="dot"/>
          </a:ln>
        </p:spPr>
      </p:sp>
      <p:sp>
        <p:nvSpPr>
          <p:cNvPr id="10" name="Text 8"/>
          <p:cNvSpPr/>
          <p:nvPr/>
        </p:nvSpPr>
        <p:spPr>
          <a:xfrm>
            <a:off x="457200" y="1626877"/>
            <a:ext cx="1993106" cy="1482105"/>
          </a:xfrm>
          <a:prstGeom prst="roundRect">
            <a:avLst>
              <a:gd name="adj" fmla="val 1028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1637593"/>
            <a:ext cx="1993106" cy="0"/>
          </a:xfrm>
          <a:prstGeom prst="line">
            <a:avLst/>
          </a:prstGeom>
          <a:noFill/>
          <a:ln w="21431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46734" y="1626877"/>
            <a:ext cx="0" cy="1482105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105410"/>
            <a:ext cx="1993106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0772" y="1626877"/>
            <a:ext cx="0" cy="1482105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4356" y="1761716"/>
            <a:ext cx="148020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31" kern="0" dirty="0">
                <a:solidFill>
                  <a:srgbClr val="73737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Q3 2025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047479" y="1739642"/>
            <a:ext cx="307043" cy="162020"/>
          </a:xfrm>
          <a:prstGeom prst="roundRect">
            <a:avLst>
              <a:gd name="adj" fmla="val 5873025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058851" y="1748321"/>
            <a:ext cx="284299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02"/>
              </a:lnSpc>
              <a:buNone/>
            </a:pPr>
            <a:r>
              <a:rPr lang="en-US" sz="800" spc="11" kern="0" dirty="0">
                <a:solidFill>
                  <a:srgbClr val="0F766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64356" y="1950132"/>
            <a:ext cx="1778794" cy="148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Hackathon MVP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64356" y="2158640"/>
            <a:ext cx="1778794" cy="93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5 complete flows (marketplace, portfolio, owner, secondary, DAO)</a:t>
            </a:r>
            <a:endParaRPr lang="en-US" sz="800" dirty="0"/>
          </a:p>
          <a:p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Move contracts (stream.move + arthavest.move) — not yet published</a:t>
            </a:r>
            <a:endParaRPr lang="en-US" sz="800" dirty="0"/>
          </a:p>
          <a:p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40404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Demo data 6 MSMEs</a:t>
            </a:r>
            <a:endParaRPr lang="en-US" sz="800" dirty="0"/>
          </a:p>
          <a:p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zkLogin mock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536031" y="1626877"/>
            <a:ext cx="1993106" cy="1482105"/>
          </a:xfrm>
          <a:prstGeom prst="roundRect">
            <a:avLst>
              <a:gd name="adj" fmla="val 1028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2536031" y="1637593"/>
            <a:ext cx="1993106" cy="0"/>
          </a:xfrm>
          <a:prstGeom prst="line">
            <a:avLst/>
          </a:prstGeom>
          <a:noFill/>
          <a:ln w="21431">
            <a:solidFill>
              <a:srgbClr val="D9770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25566" y="1626877"/>
            <a:ext cx="0" cy="1482105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36031" y="3105410"/>
            <a:ext cx="1993106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39603" y="1626877"/>
            <a:ext cx="0" cy="1482105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43188" y="1761716"/>
            <a:ext cx="146368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31" kern="0" dirty="0">
                <a:solidFill>
                  <a:srgbClr val="73737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Q4 2025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109130" y="1739642"/>
            <a:ext cx="324884" cy="162020"/>
          </a:xfrm>
          <a:prstGeom prst="roundRect">
            <a:avLst>
              <a:gd name="adj" fmla="val 5873025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121162" y="1748321"/>
            <a:ext cx="300819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02"/>
              </a:lnSpc>
              <a:buNone/>
            </a:pPr>
            <a:r>
              <a:rPr lang="en-US" sz="800" spc="11" kern="0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NEXT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643188" y="1950132"/>
            <a:ext cx="1778794" cy="148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Testnet Public Launch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643188" y="2158640"/>
            <a:ext cx="1778794" cy="81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Publish Move contracts to Sui testnet</a:t>
            </a:r>
            <a:endParaRPr lang="en-US" sz="800" dirty="0"/>
          </a:p>
          <a:p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Real @mysten/dapp-kit integration (already in code)</a:t>
            </a:r>
            <a:endParaRPr lang="en-US" sz="800" dirty="0"/>
          </a:p>
          <a:p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Real Walrus upload for MSME documents</a:t>
            </a:r>
            <a:endParaRPr lang="en-US" sz="800" dirty="0"/>
          </a:p>
          <a:p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10 MSME pilots onboarded (Bandung area)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614863" y="1626877"/>
            <a:ext cx="1993106" cy="1482105"/>
          </a:xfrm>
          <a:prstGeom prst="roundRect">
            <a:avLst>
              <a:gd name="adj" fmla="val 1028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614863" y="1637593"/>
            <a:ext cx="1993106" cy="0"/>
          </a:xfrm>
          <a:prstGeom prst="line">
            <a:avLst/>
          </a:prstGeom>
          <a:noFill/>
          <a:ln w="21431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04397" y="1626877"/>
            <a:ext cx="0" cy="1482105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14863" y="3105410"/>
            <a:ext cx="1993106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18434" y="1626877"/>
            <a:ext cx="0" cy="1482105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22019" y="1761716"/>
            <a:ext cx="1331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31" kern="0" dirty="0">
                <a:solidFill>
                  <a:srgbClr val="73737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Q1 2026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050515" y="1739642"/>
            <a:ext cx="467616" cy="162020"/>
          </a:xfrm>
          <a:prstGeom prst="roundRect">
            <a:avLst>
              <a:gd name="adj" fmla="val 5873025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067834" y="1748321"/>
            <a:ext cx="43297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02"/>
              </a:lnSpc>
              <a:buNone/>
            </a:pPr>
            <a:r>
              <a:rPr lang="en-US" sz="800" spc="11" kern="0" dirty="0">
                <a:solidFill>
                  <a:srgbClr val="0F766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MAINNET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722019" y="1950132"/>
            <a:ext cx="1778794" cy="148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Sui Mainnet Launch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22019" y="2158640"/>
            <a:ext cx="1778794" cy="6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40404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Active DAO jury (5 elected jurors)</a:t>
            </a:r>
            <a:endParaRPr lang="en-US" sz="800" dirty="0"/>
          </a:p>
          <a:p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DeepBook secondary market live</a:t>
            </a:r>
            <a:endParaRPr lang="en-US" sz="800" dirty="0"/>
          </a:p>
          <a:p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40404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Onboard 100 MSMEs (target)</a:t>
            </a:r>
            <a:endParaRPr lang="en-US" sz="800" dirty="0"/>
          </a:p>
          <a:p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Payment on-ramp integration (IDR → SUI)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693694" y="1626877"/>
            <a:ext cx="1993106" cy="1482105"/>
          </a:xfrm>
          <a:prstGeom prst="roundRect">
            <a:avLst>
              <a:gd name="adj" fmla="val 1028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6693694" y="1637593"/>
            <a:ext cx="1993106" cy="0"/>
          </a:xfrm>
          <a:prstGeom prst="line">
            <a:avLst/>
          </a:prstGeom>
          <a:noFill/>
          <a:ln w="21431">
            <a:solidFill>
              <a:srgbClr val="D9770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683228" y="1626877"/>
            <a:ext cx="0" cy="1482105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693694" y="3105410"/>
            <a:ext cx="1993106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697266" y="1626877"/>
            <a:ext cx="0" cy="1482105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00850" y="1761716"/>
            <a:ext cx="124323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31" kern="0" dirty="0">
                <a:solidFill>
                  <a:srgbClr val="73737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Q2 2026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8037522" y="1739642"/>
            <a:ext cx="562972" cy="162020"/>
          </a:xfrm>
          <a:prstGeom prst="roundRect">
            <a:avLst>
              <a:gd name="adj" fmla="val 5873025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058373" y="1748321"/>
            <a:ext cx="521271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02"/>
              </a:lnSpc>
              <a:buNone/>
            </a:pPr>
            <a:r>
              <a:rPr lang="en-US" sz="800" spc="11" kern="0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EXPANSION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00850" y="1950132"/>
            <a:ext cx="1778794" cy="148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SEA Expansion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800850" y="2158640"/>
            <a:ext cx="1778794" cy="81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Vietnam &amp; Philippines pilot</a:t>
            </a:r>
            <a:endParaRPr lang="en-US" sz="800" dirty="0"/>
          </a:p>
          <a:p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Mobile app (React Native + dapp-kit)</a:t>
            </a:r>
            <a:endParaRPr lang="en-US" sz="800" dirty="0"/>
          </a:p>
          <a:p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SuiStream primitive packaged as open-source SDK</a:t>
            </a:r>
            <a:endParaRPr lang="en-US" sz="800" dirty="0"/>
          </a:p>
          <a:p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38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Partnership with national MSME cooperatives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60772" y="3212567"/>
            <a:ext cx="4057650" cy="413891"/>
          </a:xfrm>
          <a:prstGeom prst="roundRect">
            <a:avLst>
              <a:gd name="adj" fmla="val 27616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64356" y="334093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0D94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◔</a:t>
            </a:r>
            <a:endParaRPr lang="en-US" sz="1547" dirty="0"/>
          </a:p>
        </p:txBody>
      </p:sp>
      <p:sp>
        <p:nvSpPr>
          <p:cNvPr id="52" name="Text 50"/>
          <p:cNvSpPr/>
          <p:nvPr/>
        </p:nvSpPr>
        <p:spPr>
          <a:xfrm>
            <a:off x="807244" y="3287576"/>
            <a:ext cx="1245156" cy="129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b="1" dirty="0">
                <a:solidFill>
                  <a:srgbClr val="1A1A1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 months</a:t>
            </a:r>
            <a:endParaRPr lang="en-US" sz="1238" dirty="0"/>
          </a:p>
        </p:txBody>
      </p:sp>
      <p:sp>
        <p:nvSpPr>
          <p:cNvPr id="53" name="Text 51"/>
          <p:cNvSpPr/>
          <p:nvPr/>
        </p:nvSpPr>
        <p:spPr>
          <a:xfrm>
            <a:off x="807244" y="3444739"/>
            <a:ext cx="1070056" cy="10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1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from hackathon to mainnet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4625578" y="3212567"/>
            <a:ext cx="4057650" cy="413891"/>
          </a:xfrm>
          <a:prstGeom prst="roundRect">
            <a:avLst>
              <a:gd name="adj" fmla="val 27616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4729163" y="334093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D97706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◫</a:t>
            </a:r>
            <a:endParaRPr lang="en-US" sz="1547" dirty="0"/>
          </a:p>
        </p:txBody>
      </p:sp>
      <p:sp>
        <p:nvSpPr>
          <p:cNvPr id="56" name="Text 54"/>
          <p:cNvSpPr/>
          <p:nvPr/>
        </p:nvSpPr>
        <p:spPr>
          <a:xfrm>
            <a:off x="4972050" y="3287576"/>
            <a:ext cx="1633776" cy="129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$50K</a:t>
            </a:r>
            <a:endParaRPr lang="en-US" sz="1238" dirty="0"/>
          </a:p>
        </p:txBody>
      </p:sp>
      <p:sp>
        <p:nvSpPr>
          <p:cNvPr id="57" name="Text 55"/>
          <p:cNvSpPr/>
          <p:nvPr/>
        </p:nvSpPr>
        <p:spPr>
          <a:xfrm>
            <a:off x="4972050" y="3444739"/>
            <a:ext cx="1352970" cy="10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1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estimated launch cost (gas + audit)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457200" y="4854178"/>
            <a:ext cx="75593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Arthavest · Sui Overflow 2025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030803" y="4854178"/>
            <a:ext cx="78912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Slide 07 / 08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1446609" y="1451856"/>
            <a:ext cx="78581" cy="78581"/>
          </a:xfrm>
          <a:prstGeom prst="ellipse">
            <a:avLst/>
          </a:prstGeom>
          <a:solidFill>
            <a:srgbClr val="FDF8F0"/>
          </a:solidFill>
          <a:ln w="21431">
            <a:solidFill>
              <a:srgbClr val="0D948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3504009" y="1451856"/>
            <a:ext cx="78581" cy="78581"/>
          </a:xfrm>
          <a:prstGeom prst="ellipse">
            <a:avLst/>
          </a:prstGeom>
          <a:solidFill>
            <a:srgbClr val="FDF8F0"/>
          </a:solidFill>
          <a:ln w="21431">
            <a:solidFill>
              <a:srgbClr val="D9770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5561409" y="1451856"/>
            <a:ext cx="78581" cy="78581"/>
          </a:xfrm>
          <a:prstGeom prst="ellipse">
            <a:avLst/>
          </a:prstGeom>
          <a:solidFill>
            <a:srgbClr val="FDF8F0"/>
          </a:solidFill>
          <a:ln w="21431">
            <a:solidFill>
              <a:srgbClr val="0D948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618809" y="1451856"/>
            <a:ext cx="78581" cy="78581"/>
          </a:xfrm>
          <a:prstGeom prst="ellipse">
            <a:avLst/>
          </a:prstGeom>
          <a:solidFill>
            <a:srgbClr val="FDF8F0"/>
          </a:solidFill>
          <a:ln w="21431">
            <a:solidFill>
              <a:srgbClr val="D9770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0050"/>
            <a:ext cx="711893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11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TEAM &amp; ASK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603647"/>
            <a:ext cx="5429250" cy="674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8"/>
              </a:lnSpc>
              <a:buNone/>
            </a:pPr>
            <a:r>
              <a:rPr lang="en-US" sz="2138" b="1" spc="-21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Indonesian builder team, Sui jury — help us onboard.</a:t>
            </a:r>
            <a:endParaRPr lang="en-US" sz="2138" dirty="0"/>
          </a:p>
        </p:txBody>
      </p:sp>
      <p:sp>
        <p:nvSpPr>
          <p:cNvPr id="4" name="Text 2"/>
          <p:cNvSpPr/>
          <p:nvPr/>
        </p:nvSpPr>
        <p:spPr>
          <a:xfrm>
            <a:off x="7725095" y="431554"/>
            <a:ext cx="984565" cy="212027"/>
          </a:xfrm>
          <a:prstGeom prst="roundRect">
            <a:avLst>
              <a:gd name="adj" fmla="val 4487860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969411" y="492919"/>
            <a:ext cx="631664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spc="12" kern="0" dirty="0">
                <a:solidFill>
                  <a:srgbClr val="0F766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CLOSING SLIDE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833680" y="491133"/>
            <a:ext cx="92869" cy="928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14" dirty="0">
                <a:solidFill>
                  <a:srgbClr val="0F766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914" dirty="0"/>
          </a:p>
        </p:txBody>
      </p:sp>
      <p:sp>
        <p:nvSpPr>
          <p:cNvPr id="7" name="Text 5"/>
          <p:cNvSpPr/>
          <p:nvPr/>
        </p:nvSpPr>
        <p:spPr>
          <a:xfrm>
            <a:off x="8246566" y="660797"/>
            <a:ext cx="5797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30" kern="0" dirty="0">
                <a:solidFill>
                  <a:srgbClr val="A3A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28650" y="1377851"/>
            <a:ext cx="547390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spc="36" kern="0" dirty="0">
                <a:solidFill>
                  <a:srgbClr val="0D94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TEAM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384995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0D94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0772" y="1617166"/>
            <a:ext cx="3613845" cy="623292"/>
          </a:xfrm>
          <a:prstGeom prst="roundRect">
            <a:avLst>
              <a:gd name="adj" fmla="val 21394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069" y="1757363"/>
            <a:ext cx="342900" cy="3429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03647" y="1810941"/>
            <a:ext cx="235744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38" dirty="0">
                <a:solidFill>
                  <a:srgbClr val="1A1A1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👤</a:t>
            </a:r>
            <a:endParaRPr lang="en-US" sz="1238" dirty="0"/>
          </a:p>
        </p:txBody>
      </p:sp>
      <p:sp>
        <p:nvSpPr>
          <p:cNvPr id="13" name="Text 10"/>
          <p:cNvSpPr/>
          <p:nvPr/>
        </p:nvSpPr>
        <p:spPr>
          <a:xfrm>
            <a:off x="992981" y="1706463"/>
            <a:ext cx="2992338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Lead Builder</a:t>
            </a:r>
            <a:endParaRPr lang="en-US" sz="844" dirty="0"/>
          </a:p>
        </p:txBody>
      </p:sp>
      <p:sp>
        <p:nvSpPr>
          <p:cNvPr id="14" name="Text 11"/>
          <p:cNvSpPr/>
          <p:nvPr/>
        </p:nvSpPr>
        <p:spPr>
          <a:xfrm>
            <a:off x="992981" y="1849338"/>
            <a:ext cx="3102066" cy="144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Fullstack + Smart Contract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981824" y="2012966"/>
            <a:ext cx="301256" cy="146018"/>
          </a:xfrm>
          <a:prstGeom prst="roundRect">
            <a:avLst>
              <a:gd name="adj" fmla="val 6516645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992981" y="2020788"/>
            <a:ext cx="278941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02"/>
              </a:lnSpc>
              <a:buNone/>
            </a:pPr>
            <a:r>
              <a:rPr lang="en-US" sz="800" spc="11" kern="0" dirty="0">
                <a:solidFill>
                  <a:srgbClr val="0F766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Move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294358" y="2012966"/>
            <a:ext cx="358639" cy="146018"/>
          </a:xfrm>
          <a:prstGeom prst="roundRect">
            <a:avLst>
              <a:gd name="adj" fmla="val 6516645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1307641" y="2020788"/>
            <a:ext cx="332073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02"/>
              </a:lnSpc>
              <a:buNone/>
            </a:pPr>
            <a:r>
              <a:rPr lang="en-US" sz="800" spc="11" kern="0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Next.js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652573" y="2012966"/>
            <a:ext cx="638763" cy="146018"/>
          </a:xfrm>
          <a:prstGeom prst="roundRect">
            <a:avLst>
              <a:gd name="adj" fmla="val 6516645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1675433" y="2020788"/>
            <a:ext cx="593043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02"/>
              </a:lnSpc>
              <a:buNone/>
            </a:pPr>
            <a:r>
              <a:rPr lang="en-US" sz="800" spc="11" kern="0" dirty="0">
                <a:solidFill>
                  <a:srgbClr val="0F766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Sui ecosystem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60772" y="2319040"/>
            <a:ext cx="3613845" cy="623292"/>
          </a:xfrm>
          <a:prstGeom prst="roundRect">
            <a:avLst>
              <a:gd name="adj" fmla="val 21394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069" y="2459236"/>
            <a:ext cx="342900" cy="34290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03647" y="2512814"/>
            <a:ext cx="235744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38" dirty="0">
                <a:solidFill>
                  <a:srgbClr val="1A1A1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🎨</a:t>
            </a:r>
            <a:endParaRPr lang="en-US" sz="1238" dirty="0"/>
          </a:p>
        </p:txBody>
      </p:sp>
      <p:sp>
        <p:nvSpPr>
          <p:cNvPr id="24" name="Text 20"/>
          <p:cNvSpPr/>
          <p:nvPr/>
        </p:nvSpPr>
        <p:spPr>
          <a:xfrm>
            <a:off x="992981" y="2408337"/>
            <a:ext cx="2992338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Product Designer</a:t>
            </a:r>
            <a:endParaRPr lang="en-US" sz="844" dirty="0"/>
          </a:p>
        </p:txBody>
      </p:sp>
      <p:sp>
        <p:nvSpPr>
          <p:cNvPr id="25" name="Text 21"/>
          <p:cNvSpPr/>
          <p:nvPr/>
        </p:nvSpPr>
        <p:spPr>
          <a:xfrm>
            <a:off x="992981" y="2551212"/>
            <a:ext cx="2992338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73737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UI/UX + Brand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980712" y="2714839"/>
            <a:ext cx="331274" cy="146018"/>
          </a:xfrm>
          <a:prstGeom prst="roundRect">
            <a:avLst>
              <a:gd name="adj" fmla="val 6516645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992981" y="2722662"/>
            <a:ext cx="306735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02"/>
              </a:lnSpc>
              <a:buNone/>
            </a:pPr>
            <a:r>
              <a:rPr lang="en-US" sz="800" spc="11" kern="0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Figma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1312575" y="2714839"/>
            <a:ext cx="623359" cy="146018"/>
          </a:xfrm>
          <a:prstGeom prst="roundRect">
            <a:avLst>
              <a:gd name="adj" fmla="val 6516645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1335435" y="2722662"/>
            <a:ext cx="57763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02"/>
              </a:lnSpc>
              <a:buNone/>
            </a:pPr>
            <a:r>
              <a:rPr lang="en-US" sz="800" spc="11" kern="0" dirty="0">
                <a:solidFill>
                  <a:srgbClr val="0F766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Motion design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1932692" y="2714839"/>
            <a:ext cx="434706" cy="146018"/>
          </a:xfrm>
          <a:prstGeom prst="roundRect">
            <a:avLst>
              <a:gd name="adj" fmla="val 6516645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7"/>
          <p:cNvSpPr/>
          <p:nvPr/>
        </p:nvSpPr>
        <p:spPr>
          <a:xfrm>
            <a:off x="1948793" y="2722662"/>
            <a:ext cx="402506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02"/>
              </a:lnSpc>
              <a:buNone/>
            </a:pPr>
            <a:r>
              <a:rPr lang="en-US" sz="800" spc="11" kern="0" dirty="0">
                <a:solidFill>
                  <a:srgbClr val="D9770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Web3 UX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457200" y="3017341"/>
            <a:ext cx="3620988" cy="164592"/>
          </a:xfrm>
          <a:prstGeom prst="rect">
            <a:avLst/>
          </a:prstGeom>
          <a:noFill/>
          <a:ln/>
        </p:spPr>
        <p:txBody>
          <a:bodyPr wrap="square" lIns="28575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12" kern="0" dirty="0">
                <a:solidFill>
                  <a:srgbClr val="A3A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Based in Indonesia · Building for 280M population</a:t>
            </a:r>
            <a:endParaRPr lang="en-US" sz="800" dirty="0"/>
          </a:p>
        </p:txBody>
      </p:sp>
      <p:sp>
        <p:nvSpPr>
          <p:cNvPr id="33" name="Text 29"/>
          <p:cNvSpPr/>
          <p:nvPr/>
        </p:nvSpPr>
        <p:spPr>
          <a:xfrm>
            <a:off x="4478238" y="1377851"/>
            <a:ext cx="1231269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spc="36" kern="0" dirty="0">
                <a:solidFill>
                  <a:srgbClr val="D9770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WHAT WE NEED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4306788" y="1384995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D97706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✻</a:t>
            </a:r>
            <a:endParaRPr lang="en-US" sz="1125" dirty="0"/>
          </a:p>
        </p:txBody>
      </p:sp>
      <p:sp>
        <p:nvSpPr>
          <p:cNvPr id="35" name="Text 31"/>
          <p:cNvSpPr/>
          <p:nvPr/>
        </p:nvSpPr>
        <p:spPr>
          <a:xfrm>
            <a:off x="4310360" y="1617166"/>
            <a:ext cx="4372756" cy="450056"/>
          </a:xfrm>
          <a:prstGeom prst="roundRect">
            <a:avLst>
              <a:gd name="adj" fmla="val 33862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2"/>
          <p:cNvSpPr/>
          <p:nvPr/>
        </p:nvSpPr>
        <p:spPr>
          <a:xfrm>
            <a:off x="4413945" y="1706463"/>
            <a:ext cx="271463" cy="271463"/>
          </a:xfrm>
          <a:prstGeom prst="roundRect">
            <a:avLst>
              <a:gd name="adj" fmla="val 35088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3"/>
          <p:cNvSpPr/>
          <p:nvPr/>
        </p:nvSpPr>
        <p:spPr>
          <a:xfrm>
            <a:off x="4453235" y="1745754"/>
            <a:ext cx="19288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1A1A1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🏆</a:t>
            </a:r>
            <a:endParaRPr lang="en-US" sz="1013" dirty="0"/>
          </a:p>
        </p:txBody>
      </p:sp>
      <p:sp>
        <p:nvSpPr>
          <p:cNvPr id="38" name="Text 34"/>
          <p:cNvSpPr/>
          <p:nvPr/>
        </p:nvSpPr>
        <p:spPr>
          <a:xfrm>
            <a:off x="4771132" y="1706463"/>
            <a:ext cx="3808400" cy="1139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Win Sui Overflow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4771132" y="1847887"/>
            <a:ext cx="3808400" cy="130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9"/>
              </a:lnSpc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Visibility + grant for smart contract audit + mainnet deployment cost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4310360" y="2138660"/>
            <a:ext cx="4372756" cy="450056"/>
          </a:xfrm>
          <a:prstGeom prst="roundRect">
            <a:avLst>
              <a:gd name="adj" fmla="val 33862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7"/>
          <p:cNvSpPr/>
          <p:nvPr/>
        </p:nvSpPr>
        <p:spPr>
          <a:xfrm>
            <a:off x="4413945" y="2227957"/>
            <a:ext cx="271463" cy="271463"/>
          </a:xfrm>
          <a:prstGeom prst="roundRect">
            <a:avLst>
              <a:gd name="adj" fmla="val 35088"/>
            </a:avLst>
          </a:prstGeom>
          <a:solidFill>
            <a:srgbClr val="D1FAE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8"/>
          <p:cNvSpPr/>
          <p:nvPr/>
        </p:nvSpPr>
        <p:spPr>
          <a:xfrm>
            <a:off x="4453235" y="2267248"/>
            <a:ext cx="19288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1A1A1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🤝</a:t>
            </a:r>
            <a:endParaRPr lang="en-US" sz="1013" dirty="0"/>
          </a:p>
        </p:txBody>
      </p:sp>
      <p:sp>
        <p:nvSpPr>
          <p:cNvPr id="43" name="Text 39"/>
          <p:cNvSpPr/>
          <p:nvPr/>
        </p:nvSpPr>
        <p:spPr>
          <a:xfrm>
            <a:off x="4771132" y="2227957"/>
            <a:ext cx="3918128" cy="113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Intro to MSME cooperatives</a:t>
            </a:r>
            <a:endParaRPr lang="en-US" sz="800" dirty="0"/>
          </a:p>
        </p:txBody>
      </p:sp>
      <p:sp>
        <p:nvSpPr>
          <p:cNvPr id="44" name="Text 40"/>
          <p:cNvSpPr/>
          <p:nvPr/>
        </p:nvSpPr>
        <p:spPr>
          <a:xfrm>
            <a:off x="4771132" y="2369381"/>
            <a:ext cx="3808400" cy="130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9"/>
              </a:lnSpc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Pipeline of 100+ MSME pilots — do you know the Indonesian ecosystem?</a:t>
            </a:r>
            <a:endParaRPr lang="en-US" sz="800" dirty="0"/>
          </a:p>
        </p:txBody>
      </p:sp>
      <p:sp>
        <p:nvSpPr>
          <p:cNvPr id="45" name="Text 41"/>
          <p:cNvSpPr/>
          <p:nvPr/>
        </p:nvSpPr>
        <p:spPr>
          <a:xfrm>
            <a:off x="4310360" y="2660154"/>
            <a:ext cx="4372756" cy="450056"/>
          </a:xfrm>
          <a:prstGeom prst="roundRect">
            <a:avLst>
              <a:gd name="adj" fmla="val 33862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2"/>
          <p:cNvSpPr/>
          <p:nvPr/>
        </p:nvSpPr>
        <p:spPr>
          <a:xfrm>
            <a:off x="4413945" y="2749451"/>
            <a:ext cx="271463" cy="271463"/>
          </a:xfrm>
          <a:prstGeom prst="roundRect">
            <a:avLst>
              <a:gd name="adj" fmla="val 35088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3"/>
          <p:cNvSpPr/>
          <p:nvPr/>
        </p:nvSpPr>
        <p:spPr>
          <a:xfrm>
            <a:off x="4453235" y="2788741"/>
            <a:ext cx="19288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1A1A1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💡</a:t>
            </a:r>
            <a:endParaRPr lang="en-US" sz="1013" dirty="0"/>
          </a:p>
        </p:txBody>
      </p:sp>
      <p:sp>
        <p:nvSpPr>
          <p:cNvPr id="48" name="Text 44"/>
          <p:cNvSpPr/>
          <p:nvPr/>
        </p:nvSpPr>
        <p:spPr>
          <a:xfrm>
            <a:off x="4771132" y="2749451"/>
            <a:ext cx="3918128" cy="113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SuiStream ecosystem feedback</a:t>
            </a:r>
            <a:endParaRPr lang="en-US" sz="800" dirty="0"/>
          </a:p>
        </p:txBody>
      </p:sp>
      <p:sp>
        <p:nvSpPr>
          <p:cNvPr id="49" name="Text 45"/>
          <p:cNvSpPr/>
          <p:nvPr/>
        </p:nvSpPr>
        <p:spPr>
          <a:xfrm>
            <a:off x="4771132" y="2890875"/>
            <a:ext cx="3808400" cy="130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9"/>
              </a:lnSpc>
              <a:buNone/>
            </a:pPr>
            <a:r>
              <a:rPr lang="en-US" sz="800" dirty="0">
                <a:solidFill>
                  <a:srgbClr val="40404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Our primitive is open-source — feedback from Sui core team will shape SDK roadmap</a:t>
            </a:r>
            <a:endParaRPr lang="en-US" sz="800" dirty="0"/>
          </a:p>
        </p:txBody>
      </p:sp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29868"/>
            <a:ext cx="8229600" cy="511448"/>
          </a:xfrm>
          <a:prstGeom prst="rect">
            <a:avLst/>
          </a:prstGeom>
        </p:spPr>
      </p:pic>
      <p:sp>
        <p:nvSpPr>
          <p:cNvPr id="51" name="Text 46"/>
          <p:cNvSpPr/>
          <p:nvPr/>
        </p:nvSpPr>
        <p:spPr>
          <a:xfrm>
            <a:off x="460772" y="3233440"/>
            <a:ext cx="8222456" cy="504304"/>
          </a:xfrm>
          <a:prstGeom prst="roundRect">
            <a:avLst>
              <a:gd name="adj" fmla="val 26442"/>
            </a:avLst>
          </a:prstGeom>
          <a:noFill/>
          <a:ln w="7144">
            <a:solidFill>
              <a:srgbClr val="0D9488"/>
            </a:solidFill>
            <a:prstDash val="solid"/>
          </a:ln>
          <a:effectLst>
            <a:outerShdw sx="100000" sy="100000" kx="0" ky="0" algn="bl" rotWithShape="0" blurRad="285750" dist="76200" dir="5400000">
              <a:srgbClr val="0D9488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47"/>
          <p:cNvSpPr/>
          <p:nvPr/>
        </p:nvSpPr>
        <p:spPr>
          <a:xfrm>
            <a:off x="607219" y="3392723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0D94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1828" dirty="0"/>
          </a:p>
        </p:txBody>
      </p:sp>
      <p:sp>
        <p:nvSpPr>
          <p:cNvPr id="53" name="Text 48"/>
          <p:cNvSpPr/>
          <p:nvPr/>
        </p:nvSpPr>
        <p:spPr>
          <a:xfrm>
            <a:off x="878681" y="3337024"/>
            <a:ext cx="1574418" cy="1411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Try the live demo now</a:t>
            </a:r>
            <a:endParaRPr lang="en-US" sz="1013" dirty="0"/>
          </a:p>
        </p:txBody>
      </p:sp>
      <p:sp>
        <p:nvSpPr>
          <p:cNvPr id="54" name="Text 49"/>
          <p:cNvSpPr/>
          <p:nvPr/>
        </p:nvSpPr>
        <p:spPr>
          <a:xfrm>
            <a:off x="878681" y="3505572"/>
            <a:ext cx="1450829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preview-link.space-z.ai</a:t>
            </a:r>
            <a:endParaRPr lang="en-US" sz="800" dirty="0"/>
          </a:p>
        </p:txBody>
      </p:sp>
      <p:sp>
        <p:nvSpPr>
          <p:cNvPr id="55" name="Text 50"/>
          <p:cNvSpPr/>
          <p:nvPr/>
        </p:nvSpPr>
        <p:spPr>
          <a:xfrm>
            <a:off x="7398492" y="3326343"/>
            <a:ext cx="1161150" cy="318497"/>
          </a:xfrm>
          <a:prstGeom prst="roundRect">
            <a:avLst>
              <a:gd name="adj" fmla="val 23925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1"/>
          <p:cNvSpPr/>
          <p:nvPr/>
        </p:nvSpPr>
        <p:spPr>
          <a:xfrm>
            <a:off x="7564227" y="3424870"/>
            <a:ext cx="67251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81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Explore Demo</a:t>
            </a:r>
            <a:endParaRPr lang="en-US" sz="800" dirty="0"/>
          </a:p>
        </p:txBody>
      </p:sp>
      <p:sp>
        <p:nvSpPr>
          <p:cNvPr id="57" name="Text 52"/>
          <p:cNvSpPr/>
          <p:nvPr/>
        </p:nvSpPr>
        <p:spPr>
          <a:xfrm>
            <a:off x="8279606" y="3428442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125" dirty="0"/>
          </a:p>
        </p:txBody>
      </p:sp>
      <p:sp>
        <p:nvSpPr>
          <p:cNvPr id="58" name="Text 53"/>
          <p:cNvSpPr/>
          <p:nvPr/>
        </p:nvSpPr>
        <p:spPr>
          <a:xfrm>
            <a:off x="457200" y="4854178"/>
            <a:ext cx="75593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A3A3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Arthavest · Sui Overflow 2025 · Thank you</a:t>
            </a:r>
            <a:endParaRPr lang="en-US" sz="800" dirty="0"/>
          </a:p>
        </p:txBody>
      </p:sp>
      <p:sp>
        <p:nvSpPr>
          <p:cNvPr id="59" name="Text 54"/>
          <p:cNvSpPr/>
          <p:nvPr/>
        </p:nvSpPr>
        <p:spPr>
          <a:xfrm>
            <a:off x="8030803" y="4854178"/>
            <a:ext cx="78912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A3A3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Slide 08 / 08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2026-06-20T17:50:21Z</dcterms:created>
  <dcterms:modified xsi:type="dcterms:W3CDTF">2026-06-20T17:50:21Z</dcterms:modified>
</cp:coreProperties>
</file>